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2303F"/>
                </a:solidFill>
                <a:latin typeface="Arial"/>
              </a:defRPr>
            </a:pPr>
            <a:r>
              <a:rPr sz="1300" b="0" i="0" u="none" strike="noStrike">
                <a:solidFill>
                  <a:srgbClr val="22303F"/>
                </a:solidFill>
                <a:latin typeface="Arial"/>
              </a:rPr>
              <a:t>開発時間の比較（1日=8時間換算）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開発時間</c:v>
                </c:pt>
              </c:strCache>
            </c:strRef>
          </c:tx>
          <c:spPr>
            <a:solidFill>
              <a:srgbClr val="8A94A6"/>
            </a:solidFill>
            <a:effectLst/>
          </c:spPr>
          <c:invertIfNegative val="0"/>
          <c:dLbls>
            <c:numFmt formatCode="0&quot;h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2303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A94A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C4B6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AIなし（想定）</c:v>
                  </c:pt>
                  <c:pt idx="1">
                    <c:v>AIあり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</c:v>
                </c:pt>
                <c:pt idx="1">
                  <c:v>8</c:v>
                </c:pt>
              </c:numCache>
            </c:numRef>
          </c:val>
        </c:ser>
        <c:dLbls>
          <c:numFmt formatCode="0&quot;h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22303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2303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"/>
        </c:scaling>
        <c:delete val="0"/>
        <c:axPos val="b"/>
        <c:majorGridlines>
          <c:spPr>
            <a:ln w="12700" cap="flat">
              <a:solidFill>
                <a:srgbClr val="E5E9F2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時間（h）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【約18秒】
就活生向けの支援サイトを開発しました。AI面接、ES添削、自己分析による企業マッチングを実装し、完成度は5段階中3です。
（一拍）
ただ今日お伝えしたいのは成果物そのものではなく、この開発を通じてAIをどう活用し、どう試行錯誤したかというプロセスです。
★強調：「成果物そのものではなく」で声のトーンを一段落とし、評価軸の転換を印象づける。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【約16秒】
一人でこの規模のサイトを作るには、通常2日ほどかかります。API通信やNext.jsの状態管理など、初学者にはハードルの高い要素も多くありました。
（一拍）
そこで、独力で抱え込むのではなく、AIと協働して開発サイクルを回す方針を選びました。
★強調：「独力で抱え込むのではなく」で声を落とし、「AIと協働して」で上げる。対比を声で作る。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【約15秒】
開発中に直面した壁は主に5つです。API通信、Next.jsの設計、状態管理、CSV読み込み、そして原因が見えにくいデバッグ。
（一拍）
特にデバッグは、エラーの再現条件が分からず、何度も同じ場所で詰まりました。
★強調：「デバッグ」を言うときに一番間を取る。次のスライドへの橋渡しになる言葉なので少し強めに。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【約22秒・ここが核心】
ここが今日の核心です。ChatGPTには仕様決定・アイデア出し・原因予測などの「考える」役割を、Claudeにはコード生成・デバッグ・修正などの「作る」役割を担わせました。
（一拍）
設計→実装→確認→エラー→原因分析→修正→再テストというサイクルを何度も回し、コードの8〜9割はAIが生成しています。
★強調：円環図のノードが出現する順に合わせて「設計→実装→確認→エラー→原因分析→修正→再テスト」を読み上げ、図と言葉を同期させる。「8〜9割はAIが生成」は数字が出た瞬間に言い切る。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【約22秒】
一番効果的だった工夫は、AIに曖昧に質問しないことです。「エラーが出ました」ではなく、いつ・どの画面で・何回目の操作で・ログとエラーメッセージ・関連コードまでまとめて渡す。
（一拍）
実際には『6問目でレスポンスが返らない、関連ファイルはこの3つ』というレベルまで具体化しました。これだけで解決率が大きく上がりました。
★強調：「解決率が大きく上がりました」を言い切りで終える。ここが工夫スライドの結論なので、少しゆっくり話す。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【約18秒】
結果として、想定2日かかる開発を約8時間に短縮できました。コードの8〜9割はAIが生成しています。
（一拍）
完成度は5段階中3で、まだ改善の余地はありますが、この短期間でここまで到達できたこと自体が、AI活用プロセスの成果だと考えています。
★強調：棒グラフが伸びきったタイミングで「8時間に短縮できました」を言う。完成度3/5は謙遜せず淡々と事実として述べる（正直さが評価される）。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【約15秒＋締め15秒】
ChatGPTとClaudeの役割を分け、開発サイクルを繰り返しました。曖昧に質問しないことが、AI活用の質を最も左右しました。開発時間は2日から8時間に短縮。
この発表で伝えたいのは、成果物の完成度よりも、AIとどう向き合ったかというプロセスそのものです。
（ここで一呼吸おいて、締めの言葉へ）
「今回の開発で実感したのは、AIは答えを出す道具ではなく、『問いの質』がそのまま成果の質になる相棒だということです。状況・ログ・意図まで言語化して渡すことで、開発は2日から8時間になりました。これからのAI時代に問われるのは技術力そのものより、正しく問いを立てる力だと思います。」
★強調：急がず、まとめのスライド文言と重ねながらゆっくり話す。最後の一文は聴衆の目を見て言い切る。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6-1.png"/><Relationship Id="rId3" Type="http://schemas.openxmlformats.org/officeDocument/2006/relationships/image" Target="../media/image-6-2.png"/><Relationship Id="rId4" Type="http://schemas.openxmlformats.org/officeDocument/2006/relationships/image" Target="../media/image-6-3.png"/><Relationship Id="rId5" Type="http://schemas.openxmlformats.org/officeDocument/2006/relationships/image" Target="../media/image-6-4.png"/><Relationship Id="rId6" Type="http://schemas.openxmlformats.org/officeDocument/2006/relationships/image" Target="../media/image-6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1C2E56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389120"/>
            <a:ext cx="4572000" cy="4572000"/>
          </a:xfrm>
          <a:prstGeom prst="ellipse">
            <a:avLst/>
          </a:prstGeom>
          <a:solidFill>
            <a:srgbClr val="1C2E56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548640"/>
            <a:ext cx="2834640" cy="384048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54864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AI活用授業 最終発表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2801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AI活用で切り拓く、就活支援サイト開発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成果物ではなく、「AIをどう使い、どう試行錯誤したか」を伝える発表です。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200400"/>
            <a:ext cx="310896" cy="310896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487" y="3254807"/>
            <a:ext cx="202082" cy="20208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97280" y="31546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AI面接（API利用）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3703320"/>
            <a:ext cx="310896" cy="310896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487" y="3757727"/>
            <a:ext cx="202082" cy="20208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97280" y="3657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AIによるES添削・模範回答生成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40080" y="4206240"/>
            <a:ext cx="310896" cy="310896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487" y="4260647"/>
            <a:ext cx="202082" cy="20208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97280" y="41605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レーダーチャートで自己分析・企業マッチング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640080" y="48463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完成度</a:t>
            </a:r>
            <a:endParaRPr lang="en-US" sz="12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4800600"/>
            <a:ext cx="292608" cy="292608"/>
          </a:xfrm>
          <a:prstGeom prst="rect">
            <a:avLst/>
          </a:prstGeom>
        </p:spPr>
      </p:pic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6272" y="4800600"/>
            <a:ext cx="292608" cy="292608"/>
          </a:xfrm>
          <a:prstGeom prst="rect">
            <a:avLst/>
          </a:prstGeom>
        </p:spPr>
      </p:pic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23744" y="4800600"/>
            <a:ext cx="292608" cy="292608"/>
          </a:xfrm>
          <a:prstGeom prst="rect">
            <a:avLst/>
          </a:prstGeom>
        </p:spPr>
      </p:pic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71216" y="4800600"/>
            <a:ext cx="292608" cy="292608"/>
          </a:xfrm>
          <a:prstGeom prst="rect">
            <a:avLst/>
          </a:prstGeom>
        </p:spPr>
      </p:pic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18688" y="4800600"/>
            <a:ext cx="292608" cy="292608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3749040" y="4846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（5段階中3）</a:t>
            </a:r>
            <a:endParaRPr lang="en-US" sz="1100" dirty="0"/>
          </a:p>
        </p:txBody>
      </p:sp>
      <p:sp>
        <p:nvSpPr>
          <p:cNvPr id="25" name="Text 14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AI活用ふりかえり発表</a:t>
            </a:r>
            <a:endParaRPr lang="en-US" sz="1000" dirty="0"/>
          </a:p>
        </p:txBody>
      </p:sp>
      <p:sp>
        <p:nvSpPr>
          <p:cNvPr id="26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316736" cy="384048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背景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8755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なぜAI活用に踏み切ったのか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一人でこの規模を実装するのは重い。だからAIと協働する道を選んだ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202436" y="2286000"/>
            <a:ext cx="4206240" cy="3017520"/>
          </a:xfrm>
          <a:prstGeom prst="roundRect">
            <a:avLst>
              <a:gd name="adj" fmla="val 3636"/>
            </a:avLst>
          </a:prstGeom>
          <a:solidFill>
            <a:srgbClr val="F4F6FB"/>
          </a:solidFill>
          <a:ln/>
        </p:spPr>
      </p:sp>
      <p:sp>
        <p:nvSpPr>
          <p:cNvPr id="7" name="Shape 5"/>
          <p:cNvSpPr/>
          <p:nvPr/>
        </p:nvSpPr>
        <p:spPr>
          <a:xfrm>
            <a:off x="2848356" y="2651760"/>
            <a:ext cx="914400" cy="914400"/>
          </a:xfrm>
          <a:prstGeom prst="ellipse">
            <a:avLst/>
          </a:prstGeom>
          <a:solidFill>
            <a:srgbClr val="8A94A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54096" y="285750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85316" y="37947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独力での開発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385316" y="42519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A94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想定 約2日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431036" y="47548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API通信・Next.js・状態管理など</a:t>
            </a:r>
            <a:endParaRPr lang="en-US" sz="11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初学者には壁の多い技術要素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500116" y="3794760"/>
            <a:ext cx="1188720" cy="18288"/>
          </a:xfrm>
          <a:prstGeom prst="line">
            <a:avLst/>
          </a:prstGeom>
          <a:noFill/>
          <a:ln w="38100">
            <a:solidFill>
              <a:srgbClr val="2EC4B6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5637276" y="324612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37276" y="32461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選択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780276" y="2286000"/>
            <a:ext cx="4206240" cy="3017520"/>
          </a:xfrm>
          <a:prstGeom prst="roundRect">
            <a:avLst>
              <a:gd name="adj" fmla="val 3636"/>
            </a:avLst>
          </a:prstGeom>
          <a:solidFill>
            <a:srgbClr val="14213D"/>
          </a:solidFill>
          <a:ln/>
        </p:spPr>
      </p:sp>
      <p:sp>
        <p:nvSpPr>
          <p:cNvPr id="16" name="Shape 13"/>
          <p:cNvSpPr/>
          <p:nvPr/>
        </p:nvSpPr>
        <p:spPr>
          <a:xfrm>
            <a:off x="8426196" y="2651760"/>
            <a:ext cx="914400" cy="91440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936" y="2857500"/>
            <a:ext cx="502920" cy="5029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963156" y="37947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AIとの協働開発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6963156" y="42519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開発サイクルを高速に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7008876" y="47548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9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設計・実装・検証・修正を</a:t>
            </a:r>
            <a:endParaRPr lang="en-US" sz="11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9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AIと繰り返し回す方針に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AI活用ふりかえり発表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316736" cy="384048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課題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8755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開発で直面した5つの壁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特に「デバッグ」は原因の再現条件が分からず、何度も同じ場所で詰まった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22376" y="2468880"/>
            <a:ext cx="1965960" cy="2286000"/>
          </a:xfrm>
          <a:prstGeom prst="roundRect">
            <a:avLst>
              <a:gd name="adj" fmla="val 4651"/>
            </a:avLst>
          </a:prstGeom>
          <a:solidFill>
            <a:srgbClr val="F4F6FB"/>
          </a:solidFill>
          <a:ln/>
        </p:spPr>
      </p:sp>
      <p:sp>
        <p:nvSpPr>
          <p:cNvPr id="7" name="Shape 5"/>
          <p:cNvSpPr/>
          <p:nvPr/>
        </p:nvSpPr>
        <p:spPr>
          <a:xfrm>
            <a:off x="1321308" y="2743200"/>
            <a:ext cx="777240" cy="777240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6187" y="2918079"/>
            <a:ext cx="427482" cy="42748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13816" y="40690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API通信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916936" y="2468880"/>
            <a:ext cx="1965960" cy="2286000"/>
          </a:xfrm>
          <a:prstGeom prst="roundRect">
            <a:avLst>
              <a:gd name="adj" fmla="val 4651"/>
            </a:avLst>
          </a:prstGeom>
          <a:solidFill>
            <a:srgbClr val="F4F6FB"/>
          </a:solidFill>
          <a:ln/>
        </p:spPr>
      </p:sp>
      <p:sp>
        <p:nvSpPr>
          <p:cNvPr id="11" name="Shape 8"/>
          <p:cNvSpPr/>
          <p:nvPr/>
        </p:nvSpPr>
        <p:spPr>
          <a:xfrm>
            <a:off x="3515868" y="2743200"/>
            <a:ext cx="777240" cy="777240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0747" y="2918079"/>
            <a:ext cx="427482" cy="42748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008376" y="40690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Next.jsの設計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111496" y="2468880"/>
            <a:ext cx="1965960" cy="2286000"/>
          </a:xfrm>
          <a:prstGeom prst="roundRect">
            <a:avLst>
              <a:gd name="adj" fmla="val 4651"/>
            </a:avLst>
          </a:prstGeom>
          <a:solidFill>
            <a:srgbClr val="F4F6FB"/>
          </a:solidFill>
          <a:ln/>
        </p:spPr>
      </p:sp>
      <p:sp>
        <p:nvSpPr>
          <p:cNvPr id="15" name="Shape 11"/>
          <p:cNvSpPr/>
          <p:nvPr/>
        </p:nvSpPr>
        <p:spPr>
          <a:xfrm>
            <a:off x="5710428" y="2743200"/>
            <a:ext cx="777240" cy="777240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5307" y="2918079"/>
            <a:ext cx="427482" cy="42748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202936" y="40690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状態管理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7306056" y="2468880"/>
            <a:ext cx="1965960" cy="2286000"/>
          </a:xfrm>
          <a:prstGeom prst="roundRect">
            <a:avLst>
              <a:gd name="adj" fmla="val 4651"/>
            </a:avLst>
          </a:prstGeom>
          <a:solidFill>
            <a:srgbClr val="F4F6FB"/>
          </a:solidFill>
          <a:ln/>
        </p:spPr>
      </p:sp>
      <p:sp>
        <p:nvSpPr>
          <p:cNvPr id="19" name="Shape 14"/>
          <p:cNvSpPr/>
          <p:nvPr/>
        </p:nvSpPr>
        <p:spPr>
          <a:xfrm>
            <a:off x="7904988" y="2743200"/>
            <a:ext cx="777240" cy="777240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9867" y="2918079"/>
            <a:ext cx="427482" cy="42748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397496" y="40690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CSV読み込み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9500616" y="2308860"/>
            <a:ext cx="1965960" cy="2606040"/>
          </a:xfrm>
          <a:prstGeom prst="roundRect">
            <a:avLst>
              <a:gd name="adj" fmla="val 4651"/>
            </a:avLst>
          </a:prstGeom>
          <a:solidFill>
            <a:srgbClr val="D64545"/>
          </a:solidFill>
          <a:ln/>
        </p:spPr>
      </p:sp>
      <p:sp>
        <p:nvSpPr>
          <p:cNvPr id="23" name="Shape 17"/>
          <p:cNvSpPr/>
          <p:nvPr/>
        </p:nvSpPr>
        <p:spPr>
          <a:xfrm>
            <a:off x="10099548" y="258318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74427" y="2758059"/>
            <a:ext cx="427482" cy="42748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592056" y="42291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デバッグ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AI活用ふりかえり発表</a:t>
            </a:r>
            <a:endParaRPr lang="en-US" sz="1000" dirty="0"/>
          </a:p>
        </p:txBody>
      </p:sp>
      <p:sp>
        <p:nvSpPr>
          <p:cNvPr id="28" name="Text 20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523744" cy="384048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AI活用プロセス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8755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ChatGPTとClaude、役割を分けた開発サイクル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設計から再テストまでを繰り返し、コードの80〜90%をAIが生成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75424" y="2899725"/>
            <a:ext cx="235101" cy="113219"/>
          </a:xfrm>
          <a:prstGeom prst="line">
            <a:avLst/>
          </a:prstGeom>
          <a:noFill/>
          <a:ln w="22225">
            <a:solidFill>
              <a:srgbClr val="6E7BA8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610268" y="3845851"/>
            <a:ext cx="58065" cy="254400"/>
          </a:xfrm>
          <a:prstGeom prst="line">
            <a:avLst/>
          </a:prstGeom>
          <a:noFill/>
          <a:ln w="22225">
            <a:solidFill>
              <a:srgbClr val="6E7BA8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 flipH="1">
            <a:off x="5290728" y="5166642"/>
            <a:ext cx="162695" cy="204013"/>
          </a:xfrm>
          <a:prstGeom prst="line">
            <a:avLst/>
          </a:prstGeom>
          <a:noFill/>
          <a:ln w="22225">
            <a:solidFill>
              <a:srgbClr val="6E7BA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 flipH="1">
            <a:off x="4062053" y="5867515"/>
            <a:ext cx="260942" cy="18288"/>
          </a:xfrm>
          <a:prstGeom prst="line">
            <a:avLst/>
          </a:prstGeom>
          <a:noFill/>
          <a:ln w="22225">
            <a:solidFill>
              <a:srgbClr val="6E7BA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 flipH="1" flipV="1">
            <a:off x="2907526" y="5216685"/>
            <a:ext cx="162695" cy="204013"/>
          </a:xfrm>
          <a:prstGeom prst="line">
            <a:avLst/>
          </a:prstGeom>
          <a:noFill/>
          <a:ln w="22225">
            <a:solidFill>
              <a:srgbClr val="6E7BA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 flipV="1">
            <a:off x="2638464" y="3908254"/>
            <a:ext cx="58065" cy="254400"/>
          </a:xfrm>
          <a:prstGeom prst="line">
            <a:avLst/>
          </a:prstGeom>
          <a:noFill/>
          <a:ln w="22225">
            <a:solidFill>
              <a:srgbClr val="6E7BA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 flipV="1">
            <a:off x="3352846" y="2927497"/>
            <a:ext cx="235101" cy="113219"/>
          </a:xfrm>
          <a:prstGeom prst="line">
            <a:avLst/>
          </a:prstGeom>
          <a:noFill/>
          <a:ln w="31750">
            <a:solidFill>
              <a:srgbClr val="2EC4B6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634740" y="2125980"/>
            <a:ext cx="1051560" cy="1051560"/>
          </a:xfrm>
          <a:prstGeom prst="ellipse">
            <a:avLst/>
          </a:prstGeom>
          <a:solidFill>
            <a:srgbClr val="6C63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60420" y="2125980"/>
            <a:ext cx="1600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①ChatGPTで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設計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957317" y="2762900"/>
            <a:ext cx="1051560" cy="1051560"/>
          </a:xfrm>
          <a:prstGeom prst="ellipse">
            <a:avLst/>
          </a:prstGeom>
          <a:solidFill>
            <a:srgbClr val="2EC4B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82997" y="2762900"/>
            <a:ext cx="1600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②Claudeで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実装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283967" y="4194045"/>
            <a:ext cx="1051560" cy="1051560"/>
          </a:xfrm>
          <a:prstGeom prst="ellipse">
            <a:avLst/>
          </a:prstGeom>
          <a:solidFill>
            <a:srgbClr val="8A94A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09647" y="4194045"/>
            <a:ext cx="1600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③動作確認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368715" y="5341735"/>
            <a:ext cx="1051560" cy="1051560"/>
          </a:xfrm>
          <a:prstGeom prst="ellipse">
            <a:avLst/>
          </a:prstGeom>
          <a:solidFill>
            <a:srgbClr val="D64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94395" y="5341735"/>
            <a:ext cx="1600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④エラー発生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900765" y="5341735"/>
            <a:ext cx="1051560" cy="1051560"/>
          </a:xfrm>
          <a:prstGeom prst="ellipse">
            <a:avLst/>
          </a:prstGeom>
          <a:solidFill>
            <a:srgbClr val="6C63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26445" y="5341735"/>
            <a:ext cx="1600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⑤ChatGPTで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原因分析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985513" y="4194045"/>
            <a:ext cx="1051560" cy="1051560"/>
          </a:xfrm>
          <a:prstGeom prst="ellipse">
            <a:avLst/>
          </a:prstGeom>
          <a:solidFill>
            <a:srgbClr val="2EC4B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11193" y="4194045"/>
            <a:ext cx="1600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⑥Claudeで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修正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312163" y="2762900"/>
            <a:ext cx="1051560" cy="1051560"/>
          </a:xfrm>
          <a:prstGeom prst="ellipse">
            <a:avLst/>
          </a:prstGeom>
          <a:solidFill>
            <a:srgbClr val="8A94A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37843" y="2762900"/>
            <a:ext cx="1600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⑦再テスト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154680" y="38404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80〜90%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3154680" y="44531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コードはAIが生成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366760" y="2331720"/>
            <a:ext cx="3200400" cy="1417320"/>
          </a:xfrm>
          <a:prstGeom prst="roundRect">
            <a:avLst>
              <a:gd name="adj" fmla="val 6452"/>
            </a:avLst>
          </a:prstGeom>
          <a:solidFill>
            <a:srgbClr val="1C2E56"/>
          </a:solidFill>
          <a:ln/>
        </p:spPr>
      </p:sp>
      <p:sp>
        <p:nvSpPr>
          <p:cNvPr id="30" name="Shape 28"/>
          <p:cNvSpPr/>
          <p:nvPr/>
        </p:nvSpPr>
        <p:spPr>
          <a:xfrm>
            <a:off x="8595360" y="2542032"/>
            <a:ext cx="274320" cy="274320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31" name="Text 29"/>
          <p:cNvSpPr/>
          <p:nvPr/>
        </p:nvSpPr>
        <p:spPr>
          <a:xfrm>
            <a:off x="8961120" y="248716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595360" y="28803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9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仕様決定・アイデア出し・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9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設計フロー・原因予測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366760" y="3931920"/>
            <a:ext cx="3200400" cy="1417320"/>
          </a:xfrm>
          <a:prstGeom prst="roundRect">
            <a:avLst>
              <a:gd name="adj" fmla="val 6452"/>
            </a:avLst>
          </a:prstGeom>
          <a:solidFill>
            <a:srgbClr val="1C2E56"/>
          </a:solidFill>
          <a:ln/>
        </p:spPr>
      </p:sp>
      <p:sp>
        <p:nvSpPr>
          <p:cNvPr id="34" name="Shape 32"/>
          <p:cNvSpPr/>
          <p:nvPr/>
        </p:nvSpPr>
        <p:spPr>
          <a:xfrm>
            <a:off x="8595360" y="4142232"/>
            <a:ext cx="274320" cy="2743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5" name="Text 33"/>
          <p:cNvSpPr/>
          <p:nvPr/>
        </p:nvSpPr>
        <p:spPr>
          <a:xfrm>
            <a:off x="8961120" y="408736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8595360" y="44805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9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コード生成・デバッグ・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9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修正・次機能の実装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AI活用ふりかえり発表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316736" cy="384048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工夫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8755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AIには「曖昧に質問しない」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状況・ログ・意図まで言語化して渡すことで、解決率が大きく上がった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8076" y="2240280"/>
            <a:ext cx="5257800" cy="2331720"/>
          </a:xfrm>
          <a:prstGeom prst="roundRect">
            <a:avLst>
              <a:gd name="adj" fmla="val 4706"/>
            </a:avLst>
          </a:prstGeom>
          <a:solidFill>
            <a:srgbClr val="FBEAEA"/>
          </a:solidFill>
          <a:ln/>
        </p:spPr>
      </p:sp>
      <p:sp>
        <p:nvSpPr>
          <p:cNvPr id="7" name="Shape 5"/>
          <p:cNvSpPr/>
          <p:nvPr/>
        </p:nvSpPr>
        <p:spPr>
          <a:xfrm>
            <a:off x="882396" y="2514600"/>
            <a:ext cx="502920" cy="502920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2615184"/>
            <a:ext cx="301752" cy="3017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22476" y="251460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悪い例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928116" y="3200400"/>
            <a:ext cx="4617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10996" y="333756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「エラーが出ました。」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323076" y="2240280"/>
            <a:ext cx="5257800" cy="2331720"/>
          </a:xfrm>
          <a:prstGeom prst="roundRect">
            <a:avLst>
              <a:gd name="adj" fmla="val 4706"/>
            </a:avLst>
          </a:prstGeom>
          <a:solidFill>
            <a:srgbClr val="14213D"/>
          </a:solidFill>
          <a:ln/>
        </p:spPr>
      </p:sp>
      <p:sp>
        <p:nvSpPr>
          <p:cNvPr id="13" name="Shape 10"/>
          <p:cNvSpPr/>
          <p:nvPr/>
        </p:nvSpPr>
        <p:spPr>
          <a:xfrm>
            <a:off x="6597396" y="2514600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7980" y="2615184"/>
            <a:ext cx="301752" cy="30175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37476" y="251460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良い例：まとめて渡す6項目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6643116" y="3154680"/>
            <a:ext cx="2199132" cy="347472"/>
          </a:xfrm>
          <a:prstGeom prst="roundRect">
            <a:avLst>
              <a:gd name="adj" fmla="val 15789"/>
            </a:avLst>
          </a:prstGeom>
          <a:solidFill>
            <a:srgbClr val="2EC4B6"/>
          </a:solidFill>
          <a:ln/>
        </p:spPr>
      </p:sp>
      <p:sp>
        <p:nvSpPr>
          <p:cNvPr id="17" name="Text 13"/>
          <p:cNvSpPr/>
          <p:nvPr/>
        </p:nvSpPr>
        <p:spPr>
          <a:xfrm>
            <a:off x="6643116" y="3154680"/>
            <a:ext cx="21991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いつ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9061704" y="3154680"/>
            <a:ext cx="2199132" cy="347472"/>
          </a:xfrm>
          <a:prstGeom prst="roundRect">
            <a:avLst>
              <a:gd name="adj" fmla="val 15789"/>
            </a:avLst>
          </a:prstGeom>
          <a:solidFill>
            <a:srgbClr val="2EC4B6"/>
          </a:solidFill>
          <a:ln/>
        </p:spPr>
      </p:sp>
      <p:sp>
        <p:nvSpPr>
          <p:cNvPr id="19" name="Text 15"/>
          <p:cNvSpPr/>
          <p:nvPr/>
        </p:nvSpPr>
        <p:spPr>
          <a:xfrm>
            <a:off x="9061704" y="3154680"/>
            <a:ext cx="21991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どの画面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643116" y="3593592"/>
            <a:ext cx="2199132" cy="347472"/>
          </a:xfrm>
          <a:prstGeom prst="roundRect">
            <a:avLst>
              <a:gd name="adj" fmla="val 15789"/>
            </a:avLst>
          </a:prstGeom>
          <a:solidFill>
            <a:srgbClr val="2EC4B6"/>
          </a:solidFill>
          <a:ln/>
        </p:spPr>
      </p:sp>
      <p:sp>
        <p:nvSpPr>
          <p:cNvPr id="21" name="Text 17"/>
          <p:cNvSpPr/>
          <p:nvPr/>
        </p:nvSpPr>
        <p:spPr>
          <a:xfrm>
            <a:off x="6643116" y="3593592"/>
            <a:ext cx="21991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何回目の操作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9061704" y="3593592"/>
            <a:ext cx="2199132" cy="347472"/>
          </a:xfrm>
          <a:prstGeom prst="roundRect">
            <a:avLst>
              <a:gd name="adj" fmla="val 15789"/>
            </a:avLst>
          </a:prstGeom>
          <a:solidFill>
            <a:srgbClr val="2EC4B6"/>
          </a:solidFill>
          <a:ln/>
        </p:spPr>
      </p:sp>
      <p:sp>
        <p:nvSpPr>
          <p:cNvPr id="23" name="Text 19"/>
          <p:cNvSpPr/>
          <p:nvPr/>
        </p:nvSpPr>
        <p:spPr>
          <a:xfrm>
            <a:off x="9061704" y="3593592"/>
            <a:ext cx="21991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ログ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6643116" y="4032504"/>
            <a:ext cx="2199132" cy="347472"/>
          </a:xfrm>
          <a:prstGeom prst="roundRect">
            <a:avLst>
              <a:gd name="adj" fmla="val 15789"/>
            </a:avLst>
          </a:prstGeom>
          <a:solidFill>
            <a:srgbClr val="2EC4B6"/>
          </a:solidFill>
          <a:ln/>
        </p:spPr>
      </p:sp>
      <p:sp>
        <p:nvSpPr>
          <p:cNvPr id="25" name="Text 21"/>
          <p:cNvSpPr/>
          <p:nvPr/>
        </p:nvSpPr>
        <p:spPr>
          <a:xfrm>
            <a:off x="6643116" y="4032504"/>
            <a:ext cx="21991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エラー文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9061704" y="4032504"/>
            <a:ext cx="2199132" cy="347472"/>
          </a:xfrm>
          <a:prstGeom prst="roundRect">
            <a:avLst>
              <a:gd name="adj" fmla="val 15789"/>
            </a:avLst>
          </a:prstGeom>
          <a:solidFill>
            <a:srgbClr val="2EC4B6"/>
          </a:solidFill>
          <a:ln/>
        </p:spPr>
      </p:sp>
      <p:sp>
        <p:nvSpPr>
          <p:cNvPr id="27" name="Text 23"/>
          <p:cNvSpPr/>
          <p:nvPr/>
        </p:nvSpPr>
        <p:spPr>
          <a:xfrm>
            <a:off x="9061704" y="4032504"/>
            <a:ext cx="21991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関連コード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608076" y="4846320"/>
            <a:ext cx="10972800" cy="960120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9" name="Text 25"/>
          <p:cNvSpPr/>
          <p:nvPr/>
        </p:nvSpPr>
        <p:spPr>
          <a:xfrm>
            <a:off x="882396" y="484632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実例：「AI面接で6問目のみレスポンスが返らない。エラーコードなし。関連ファイルは interview.ts / api.ts / page.tsx。原因になりそうな箇所だけ抽出してほしい」</a:t>
            </a:r>
            <a:endParaRPr lang="en-US" sz="1250" dirty="0"/>
          </a:p>
        </p:txBody>
      </p:sp>
      <p:sp>
        <p:nvSpPr>
          <p:cNvPr id="31" name="Text 26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AI活用ふりかえり発表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316736" cy="384048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8755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試行錯誤の成果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想定2日（16時間相当）の開発を、約8時間まで短縮できた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2286000"/>
          <a:ext cx="658368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589520" y="22860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4F6FB"/>
          </a:solidFill>
          <a:ln/>
        </p:spPr>
      </p:sp>
      <p:sp>
        <p:nvSpPr>
          <p:cNvPr id="8" name="Text 5"/>
          <p:cNvSpPr/>
          <p:nvPr/>
        </p:nvSpPr>
        <p:spPr>
          <a:xfrm>
            <a:off x="7818120" y="2423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完成度</a:t>
            </a:r>
            <a:endParaRPr lang="en-US" sz="1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2743200"/>
            <a:ext cx="310896" cy="310896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2743200"/>
            <a:ext cx="310896" cy="310896"/>
          </a:xfrm>
          <a:prstGeom prst="rect">
            <a:avLst/>
          </a:prstGeom>
        </p:spPr>
      </p:pic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9640" y="2743200"/>
            <a:ext cx="310896" cy="310896"/>
          </a:xfrm>
          <a:prstGeom prst="rect">
            <a:avLst/>
          </a:prstGeom>
        </p:spPr>
      </p:pic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5400" y="2743200"/>
            <a:ext cx="310896" cy="310896"/>
          </a:xfrm>
          <a:prstGeom prst="rect">
            <a:avLst/>
          </a:prstGeom>
        </p:spPr>
      </p:pic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1160" y="2743200"/>
            <a:ext cx="310896" cy="310896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7818120" y="32004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5段階中 3（改善の余地あり）</a:t>
            </a:r>
            <a:endParaRPr lang="en-US" sz="1100" dirty="0"/>
          </a:p>
        </p:txBody>
      </p:sp>
      <p:sp>
        <p:nvSpPr>
          <p:cNvPr id="15" name="Shape 7"/>
          <p:cNvSpPr/>
          <p:nvPr/>
        </p:nvSpPr>
        <p:spPr>
          <a:xfrm>
            <a:off x="7589520" y="388620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14213D"/>
          </a:solidFill>
          <a:ln/>
        </p:spPr>
      </p:sp>
      <p:sp>
        <p:nvSpPr>
          <p:cNvPr id="16" name="Text 8"/>
          <p:cNvSpPr/>
          <p:nvPr/>
        </p:nvSpPr>
        <p:spPr>
          <a:xfrm>
            <a:off x="7818120" y="402336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80〜90%</a:t>
            </a:r>
            <a:endParaRPr lang="en-US" sz="2600" dirty="0"/>
          </a:p>
        </p:txBody>
      </p:sp>
      <p:sp>
        <p:nvSpPr>
          <p:cNvPr id="17" name="Text 9"/>
          <p:cNvSpPr/>
          <p:nvPr/>
        </p:nvSpPr>
        <p:spPr>
          <a:xfrm>
            <a:off x="7818120" y="4663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コードはAIが生成</a:t>
            </a:r>
            <a:endParaRPr lang="en-US" sz="1200" dirty="0"/>
          </a:p>
        </p:txBody>
      </p:sp>
      <p:sp>
        <p:nvSpPr>
          <p:cNvPr id="19" name="Text 10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AI活用ふりかえり発表</a:t>
            </a:r>
            <a:endParaRPr lang="en-US" sz="1000" dirty="0"/>
          </a:p>
        </p:txBody>
      </p:sp>
      <p:sp>
        <p:nvSpPr>
          <p:cNvPr id="20" name="Text 1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4297680"/>
            <a:ext cx="4572000" cy="4572000"/>
          </a:xfrm>
          <a:prstGeom prst="ellipse">
            <a:avLst/>
          </a:prstGeom>
          <a:solidFill>
            <a:srgbClr val="1C2E5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まとめ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1977390"/>
            <a:ext cx="251460" cy="2514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87452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ChatGPTとClaude、役割を分けて開発サイクルを高速に回した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40080" y="2743200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2846070"/>
            <a:ext cx="251460" cy="2514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274320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曖昧に質問しないことが、AI活用の解決率を大きく左右した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640080" y="3611880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3714750"/>
            <a:ext cx="251460" cy="2514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80160" y="361188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開発時間は2日→8時間、コードの80〜90%をAIが生成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640080" y="4709160"/>
            <a:ext cx="8229600" cy="1417320"/>
          </a:xfrm>
          <a:prstGeom prst="roundRect">
            <a:avLst>
              <a:gd name="adj" fmla="val 9032"/>
            </a:avLst>
          </a:prstGeom>
          <a:solidFill>
            <a:srgbClr val="2EC4B6"/>
          </a:solidFill>
          <a:ln/>
        </p:spPr>
      </p:sp>
      <p:sp>
        <p:nvSpPr>
          <p:cNvPr id="14" name="Text 9"/>
          <p:cNvSpPr/>
          <p:nvPr/>
        </p:nvSpPr>
        <p:spPr>
          <a:xfrm>
            <a:off x="1005840" y="4709160"/>
            <a:ext cx="7498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成果物の完成度より、AIとどう向き合ったか。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そのプロセスこそ、今日一番伝えたいことです。</a:t>
            </a:r>
            <a:endParaRPr lang="en-US" sz="1700" dirty="0"/>
          </a:p>
        </p:txBody>
      </p:sp>
      <p:sp>
        <p:nvSpPr>
          <p:cNvPr id="16" name="Text 10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AI活用ふりかえり発表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2026-07-17T10:16:24Z</dcterms:created>
  <dcterms:modified xsi:type="dcterms:W3CDTF">2026-07-17T10:16:24Z</dcterms:modified>
</cp:coreProperties>
</file>