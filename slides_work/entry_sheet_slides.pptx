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63E5C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291840"/>
            <a:ext cx="4206240" cy="4206240"/>
          </a:xfrm>
          <a:prstGeom prst="ellipse">
            <a:avLst/>
          </a:prstGeom>
          <a:solidFill>
            <a:srgbClr val="134E63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4663440"/>
            <a:ext cx="1737360" cy="1737360"/>
          </a:xfrm>
          <a:prstGeom prst="ellipse">
            <a:avLst/>
          </a:prstGeom>
          <a:solidFill>
            <a:srgbClr val="18B39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8B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ENTRY SHEET / SELF INTRODUCTION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自己紹介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エントリーシート ダイジェスト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5852160" cy="1508760"/>
          </a:xfrm>
          <a:prstGeom prst="roundRect">
            <a:avLst>
              <a:gd name="adj" fmla="val 7273"/>
            </a:avLst>
          </a:prstGeom>
          <a:solidFill>
            <a:srgbClr val="163E5C"/>
          </a:solidFill>
          <a:ln/>
          <a:effectLst>
            <a:outerShdw sx="100000" sy="100000" kx="0" ky="0" algn="bl" rotWithShape="0" blurRad="101600" dist="38100" dir="5400000">
              <a:srgbClr val="8AA0B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4297680"/>
            <a:ext cx="2743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山田 太郎</a:t>
            </a:r>
            <a:endParaRPr lang="en-US" sz="2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B4C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ヤマダ タロウ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977640" y="4480560"/>
            <a:ext cx="0" cy="868680"/>
          </a:xfrm>
          <a:prstGeom prst="line">
            <a:avLst/>
          </a:prstGeom>
          <a:noFill/>
          <a:ln w="19050">
            <a:solidFill>
              <a:srgbClr val="1C6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429768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◯◯大学 経済学部 経営学科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FB4C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202X年3月 卒業予定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志望業界：IT・Webサービス   |   志望職種：企画営業職 / プロダクトマネージャー候補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基本情報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680" y="11155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E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PROFILE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931920" cy="4343400"/>
          </a:xfrm>
          <a:prstGeom prst="roundRect">
            <a:avLst>
              <a:gd name="adj" fmla="val 2326"/>
            </a:avLst>
          </a:prstGeom>
          <a:solidFill>
            <a:srgbClr val="0E2A40"/>
          </a:solidFill>
          <a:ln/>
          <a:effectLst>
            <a:outerShdw sx="100000" sy="100000" kx="0" ky="0" algn="bl" rotWithShape="0" blurRad="101600" dist="38100" dir="5400000">
              <a:srgbClr val="8AA0B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0" y="2240280"/>
            <a:ext cx="1005840" cy="1005840"/>
          </a:xfrm>
          <a:prstGeom prst="ellipse">
            <a:avLst/>
          </a:prstGeom>
          <a:solidFill>
            <a:srgbClr val="18B39A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A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山田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山田 太郎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7673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C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ヤマダ タロウ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63040" y="4251960"/>
            <a:ext cx="2651760" cy="0"/>
          </a:xfrm>
          <a:prstGeom prst="line">
            <a:avLst/>
          </a:prstGeom>
          <a:noFill/>
          <a:ln w="12700">
            <a:solidFill>
              <a:srgbClr val="1C6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4805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経済学部 経営学科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7C7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◯◯大学 ・ 202X年3月卒業予定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74920" y="1783080"/>
            <a:ext cx="6309360" cy="1024128"/>
          </a:xfrm>
          <a:prstGeom prst="roundRect">
            <a:avLst>
              <a:gd name="adj" fmla="val 7143"/>
            </a:avLst>
          </a:prstGeom>
          <a:solidFill>
            <a:srgbClr val="F1F5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349240" y="2043684"/>
            <a:ext cx="502920" cy="502920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13" name="Text 11"/>
          <p:cNvSpPr/>
          <p:nvPr/>
        </p:nvSpPr>
        <p:spPr>
          <a:xfrm>
            <a:off x="5349240" y="20436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0" y="192938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6E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志望業界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22860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D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IT・Webサービス業界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74920" y="2898648"/>
            <a:ext cx="6309360" cy="1024128"/>
          </a:xfrm>
          <a:prstGeom prst="roundRect">
            <a:avLst>
              <a:gd name="adj" fmla="val 7143"/>
            </a:avLst>
          </a:prstGeom>
          <a:solidFill>
            <a:srgbClr val="F1F5F8"/>
          </a:solidFill>
          <a:ln/>
        </p:spPr>
      </p:sp>
      <p:sp>
        <p:nvSpPr>
          <p:cNvPr id="17" name="Shape 15"/>
          <p:cNvSpPr/>
          <p:nvPr/>
        </p:nvSpPr>
        <p:spPr>
          <a:xfrm>
            <a:off x="5349240" y="3159252"/>
            <a:ext cx="502920" cy="502920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31592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30449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6E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志望職種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0" y="340156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D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企画営業職 / プロダクトマネージャー候補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74920" y="4014216"/>
            <a:ext cx="6309360" cy="1024128"/>
          </a:xfrm>
          <a:prstGeom prst="roundRect">
            <a:avLst>
              <a:gd name="adj" fmla="val 7143"/>
            </a:avLst>
          </a:prstGeom>
          <a:solidFill>
            <a:srgbClr val="F1F5F8"/>
          </a:solidFill>
          <a:ln/>
        </p:spPr>
      </p:sp>
      <p:sp>
        <p:nvSpPr>
          <p:cNvPr id="22" name="Shape 20"/>
          <p:cNvSpPr/>
          <p:nvPr/>
        </p:nvSpPr>
        <p:spPr>
          <a:xfrm>
            <a:off x="5349240" y="4274820"/>
            <a:ext cx="502920" cy="502920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42748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35040" y="4160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6E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軸となる想い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35040" y="451713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D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業務効率化で人々が創造的な仕事に集中できる社会へ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74920" y="5129784"/>
            <a:ext cx="6309360" cy="1024128"/>
          </a:xfrm>
          <a:prstGeom prst="roundRect">
            <a:avLst>
              <a:gd name="adj" fmla="val 7143"/>
            </a:avLst>
          </a:prstGeom>
          <a:solidFill>
            <a:srgbClr val="F1F5F8"/>
          </a:solidFill>
          <a:ln/>
        </p:spPr>
      </p:sp>
      <p:sp>
        <p:nvSpPr>
          <p:cNvPr id="27" name="Shape 25"/>
          <p:cNvSpPr/>
          <p:nvPr/>
        </p:nvSpPr>
        <p:spPr>
          <a:xfrm>
            <a:off x="5349240" y="5390388"/>
            <a:ext cx="502920" cy="502920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28" name="Text 26"/>
          <p:cNvSpPr/>
          <p:nvPr/>
        </p:nvSpPr>
        <p:spPr>
          <a:xfrm>
            <a:off x="5349240" y="53903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035040" y="52760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6E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強みキーワード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0" y="563270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D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課題の本質を見極める力 ・ 粘り強い実行力 ・ 巻き込み力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志望動機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680" y="11155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E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10561320" cy="1143000"/>
          </a:xfrm>
          <a:prstGeom prst="roundRect">
            <a:avLst>
              <a:gd name="adj" fmla="val 8000"/>
            </a:avLst>
          </a:prstGeom>
          <a:solidFill>
            <a:srgbClr val="0E2A40"/>
          </a:solidFill>
          <a:ln/>
          <a:effectLst>
            <a:outerShdw sx="100000" sy="100000" kx="0" ky="0" algn="bl" rotWithShape="0" blurRad="101600" dist="38100" dir="5400000">
              <a:srgbClr val="8AA0B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1737360"/>
            <a:ext cx="9875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 業務効率化を通じて、人々がより創造的な仕事に集中できる社会を実現したい ”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200400"/>
            <a:ext cx="3337560" cy="2606040"/>
          </a:xfrm>
          <a:prstGeom prst="roundRect">
            <a:avLst>
              <a:gd name="adj" fmla="val 3158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38100" dir="5400000">
              <a:srgbClr val="8AA0B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3520440"/>
            <a:ext cx="640080" cy="640080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520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20240" y="358444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きっかけ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438912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インターンで中小企業のバックオフィス業務の煩雑さを目の当たりにし、DXの必要性を痛感。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3200400"/>
            <a:ext cx="3337560" cy="2606040"/>
          </a:xfrm>
          <a:prstGeom prst="roundRect">
            <a:avLst>
              <a:gd name="adj" fmla="val 3158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38100" dir="5400000">
              <a:srgbClr val="8AA0B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3520440"/>
            <a:ext cx="640080" cy="640080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3520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32120" y="358444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貴社の強み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438912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クラウドツールを通じ、多様な企業のDX支援で圧倒的な実績と革新的なソリューションを保有。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3200400"/>
            <a:ext cx="3337560" cy="2606040"/>
          </a:xfrm>
          <a:prstGeom prst="roundRect">
            <a:avLst>
              <a:gd name="adj" fmla="val 3158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38100" dir="5400000">
              <a:srgbClr val="8AA0B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66760" y="3520440"/>
            <a:ext cx="640080" cy="640080"/>
          </a:xfrm>
          <a:prstGeom prst="ellipse">
            <a:avLst/>
          </a:prstGeom>
          <a:solidFill>
            <a:srgbClr val="18B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3520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0" y="358444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入社後の実現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66760" y="438912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企画営業として顧客の真の課題を深掘りし、導入から運用定着まで伴走。将来は新サービス企画にも挑戦。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6172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（332文字 / 志望動機）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学生時代に打ち込んだこと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68680" y="11155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6E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GAKUCHIKA  ｜  Webマーケティングサークル・SNS集客支援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291840" cy="4343400"/>
          </a:xfrm>
          <a:prstGeom prst="roundRect">
            <a:avLst>
              <a:gd name="adj" fmla="val 2778"/>
            </a:avLst>
          </a:prstGeom>
          <a:solidFill>
            <a:srgbClr val="1C6E8C"/>
          </a:solidFill>
          <a:ln/>
          <a:effectLst>
            <a:outerShdw sx="100000" sy="100000" kx="0" ky="0" algn="bl" rotWithShape="0" blurRad="101600" dist="38100" dir="5400000">
              <a:srgbClr val="8AA0B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331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7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参加店舗の来店数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78892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150</a:t>
            </a:r>
            <a:pPr algn="ctr" indent="0" marL="0">
              <a:buNone/>
            </a:pPr>
            <a:r>
              <a:rPr lang="en-US" sz="3000" b="1" dirty="0">
                <a:solidFill>
                  <a:srgbClr val="18B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%</a:t>
            </a:r>
            <a:endParaRPr lang="en-US" sz="8200" dirty="0"/>
          </a:p>
        </p:txBody>
      </p:sp>
      <p:sp>
        <p:nvSpPr>
          <p:cNvPr id="7" name="Text 5"/>
          <p:cNvSpPr/>
          <p:nvPr/>
        </p:nvSpPr>
        <p:spPr>
          <a:xfrm>
            <a:off x="960120" y="4114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7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前年比（目標を達成）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4617720"/>
            <a:ext cx="2194560" cy="0"/>
          </a:xfrm>
          <a:prstGeom prst="line">
            <a:avLst/>
          </a:prstGeom>
          <a:noFill/>
          <a:ln w="12700">
            <a:solidFill>
              <a:srgbClr val="4E93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800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リーダーとしてチームを牽引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7040880" cy="1051560"/>
          </a:xfrm>
          <a:prstGeom prst="roundRect">
            <a:avLst>
              <a:gd name="adj" fmla="val 6957"/>
            </a:avLst>
          </a:prstGeom>
          <a:solidFill>
            <a:srgbClr val="E4ECF1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783080"/>
            <a:ext cx="6537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34E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　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D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メンバー間で施策への認識のズレがあり、投稿頻度や内容の質が安定しない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3017520"/>
            <a:ext cx="7040880" cy="1234440"/>
          </a:xfrm>
          <a:prstGeom prst="roundRect">
            <a:avLst>
              <a:gd name="adj" fmla="val 5926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38100" dir="5400000">
              <a:srgbClr val="8AA0B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3383280"/>
            <a:ext cx="502920" cy="502920"/>
          </a:xfrm>
          <a:prstGeom prst="ellipse">
            <a:avLst/>
          </a:prstGeom>
          <a:solidFill>
            <a:srgbClr val="18B39A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3163824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ペルソナシートで軸を統一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03520" y="3584448"/>
            <a:ext cx="5897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週1回の定例MTGで各店舗のターゲット層や強みを整理・共有し、施策の軸をチームで統一。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43400" y="4389120"/>
            <a:ext cx="7040880" cy="1234440"/>
          </a:xfrm>
          <a:prstGeom prst="roundRect">
            <a:avLst>
              <a:gd name="adj" fmla="val 5926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38100" dir="5400000">
              <a:srgbClr val="8AA0B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4754880"/>
            <a:ext cx="502920" cy="502920"/>
          </a:xfrm>
          <a:prstGeom prst="ellipse">
            <a:avLst/>
          </a:prstGeom>
          <a:solidFill>
            <a:srgbClr val="18B39A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4754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0" y="4535424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ダッシュボードで可視化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03520" y="4956048"/>
            <a:ext cx="5897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投稿データの分析数値を可視化し、施策の効果をチーム全体で一目で把握できる状態に。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43400" y="58064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34E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学び：共通の目標に向かって組織の一体感を醸成する「巻き込み力」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自己PR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680" y="11155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6E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STRENGTH  ｜  課題の本質を見極め、粘り強く解決に向けて行動する力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337560" cy="2423160"/>
          </a:xfrm>
          <a:prstGeom prst="roundRect">
            <a:avLst>
              <a:gd name="adj" fmla="val 3396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38100" dir="5400000">
              <a:srgbClr val="8AA0B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075688"/>
            <a:ext cx="594360" cy="594360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0756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74520" y="2112264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課題の発見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2862072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カフェのアルバイトで新人の離職率が高い（年間約40%）問題に直面。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27660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8B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1783080"/>
            <a:ext cx="3337560" cy="2423160"/>
          </a:xfrm>
          <a:prstGeom prst="roundRect">
            <a:avLst>
              <a:gd name="adj" fmla="val 3396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38100" dir="5400000">
              <a:srgbClr val="8AA0B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075688"/>
            <a:ext cx="594360" cy="594360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0756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0" y="2112264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多角的な分析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2862072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店長や既存スタッフに加え、退職した新人にも個別に相談し原因を特定。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26680" y="27660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8B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337560" cy="2423160"/>
          </a:xfrm>
          <a:prstGeom prst="roundRect">
            <a:avLst>
              <a:gd name="adj" fmla="val 3396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38100" dir="5400000">
              <a:srgbClr val="8AA0B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66760" y="2075688"/>
            <a:ext cx="594360" cy="594360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20756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98280" y="2112264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施策の実行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2862072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『ステップアップノート』作成・コミュニケーションカード導入・新人サポート担当を固定化。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526280"/>
            <a:ext cx="10561320" cy="1600200"/>
          </a:xfrm>
          <a:prstGeom prst="roundRect">
            <a:avLst>
              <a:gd name="adj" fmla="val 5714"/>
            </a:avLst>
          </a:prstGeom>
          <a:solidFill>
            <a:srgbClr val="0E2A40"/>
          </a:solidFill>
          <a:ln/>
          <a:effectLst>
            <a:outerShdw sx="100000" sy="100000" kx="0" ky="0" algn="bl" rotWithShape="0" blurRad="101600" dist="38100" dir="5400000">
              <a:srgbClr val="8AA0B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88720" y="4526280"/>
            <a:ext cx="4754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半年間の運用で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新人の離職率が大幅に改善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943600" y="470916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8FA6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40%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7635240" y="4709160"/>
            <a:ext cx="1005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8B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8595360" y="4709160"/>
            <a:ext cx="2743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8B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%以下</a:t>
            </a:r>
            <a:endParaRPr lang="en-US" sz="5600" dirty="0"/>
          </a:p>
        </p:txBody>
      </p:sp>
      <p:sp>
        <p:nvSpPr>
          <p:cNvPr id="26" name="Text 2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長所と短所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680" y="11155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6E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STRENGTH &amp; WEAKNESS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166360" cy="4206240"/>
          </a:xfrm>
          <a:prstGeom prst="roundRect">
            <a:avLst>
              <a:gd name="adj" fmla="val 2174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38100" dir="5400000">
              <a:srgbClr val="8AA0B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166360" cy="868680"/>
          </a:xfrm>
          <a:prstGeom prst="roundRect">
            <a:avLst>
              <a:gd name="adj" fmla="val 10526"/>
            </a:avLst>
          </a:prstGeom>
          <a:solidFill>
            <a:srgbClr val="1C6E8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86000"/>
            <a:ext cx="5166360" cy="365760"/>
          </a:xfrm>
          <a:prstGeom prst="rect">
            <a:avLst/>
          </a:prstGeom>
          <a:solidFill>
            <a:srgbClr val="1C6E8C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78308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　長所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29260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目標達成に向けた粘り強さと実行力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3794760"/>
            <a:ext cx="4572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C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困難な状況でも原因を冷静に分析し、改善策を最後まで実行しきることができます。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166360" cy="4206240"/>
          </a:xfrm>
          <a:prstGeom prst="roundRect">
            <a:avLst>
              <a:gd name="adj" fmla="val 2174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38100" dir="5400000">
              <a:srgbClr val="8AA0B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783080"/>
            <a:ext cx="5166360" cy="868680"/>
          </a:xfrm>
          <a:prstGeom prst="roundRect">
            <a:avLst>
              <a:gd name="adj" fmla="val 10526"/>
            </a:avLst>
          </a:prstGeom>
          <a:solidFill>
            <a:srgbClr val="F2B34B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2286000"/>
            <a:ext cx="5166360" cy="365760"/>
          </a:xfrm>
          <a:prstGeom prst="rect">
            <a:avLst/>
          </a:prstGeom>
          <a:solidFill>
            <a:srgbClr val="F2B34B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78308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42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－　短所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37960" y="29260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凝り性で、一つの作業に没頭しすぎる点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379476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5C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スケジュールに余裕をなくしがちな点が課題。</a:t>
            </a:r>
            <a:endParaRPr lang="en-US" sz="135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34E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克服策</a:t>
            </a:r>
            <a:endParaRPr lang="en-US" sz="135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5C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タスクを細かくマイルストーン化し、完成度8割の段階で第三者にフィードバックをもらう仕組みで管理。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挫折経験と乗り越えた方法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68680" y="11155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6E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SETBACK  ｜  部活動でレギュラーから外れた経験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542032" cy="3383280"/>
          </a:xfrm>
          <a:prstGeom prst="roundRect">
            <a:avLst>
              <a:gd name="adj" fmla="val 3597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38100" dir="5400000">
              <a:srgbClr val="8AA0B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2542032" cy="777240"/>
          </a:xfrm>
          <a:prstGeom prst="roundRect">
            <a:avLst>
              <a:gd name="adj" fmla="val 11765"/>
            </a:avLst>
          </a:prstGeom>
          <a:solidFill>
            <a:srgbClr val="F2B34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423160"/>
            <a:ext cx="2542032" cy="365760"/>
          </a:xfrm>
          <a:prstGeom prst="rect">
            <a:avLst/>
          </a:prstGeom>
          <a:solidFill>
            <a:srgbClr val="F2B34B"/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" y="219456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42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2011680"/>
            <a:ext cx="1627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42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挫折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" y="3017520"/>
            <a:ext cx="202996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D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2年時にレギュラーから外され、大きな挫折感を味わう。当時は他人の能力を羨むばかりだった。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46704" y="2194560"/>
            <a:ext cx="256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8B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93592" y="2011680"/>
            <a:ext cx="2542032" cy="3383280"/>
          </a:xfrm>
          <a:prstGeom prst="roundRect">
            <a:avLst>
              <a:gd name="adj" fmla="val 3597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38100" dir="5400000">
              <a:srgbClr val="8AA0B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93592" y="2011680"/>
            <a:ext cx="2542032" cy="777240"/>
          </a:xfrm>
          <a:prstGeom prst="roundRect">
            <a:avLst>
              <a:gd name="adj" fmla="val 11765"/>
            </a:avLst>
          </a:prstGeom>
          <a:solidFill>
            <a:srgbClr val="1C6E8C"/>
          </a:solidFill>
          <a:ln/>
        </p:spPr>
      </p:sp>
      <p:sp>
        <p:nvSpPr>
          <p:cNvPr id="14" name="Shape 12"/>
          <p:cNvSpPr/>
          <p:nvPr/>
        </p:nvSpPr>
        <p:spPr>
          <a:xfrm>
            <a:off x="3593592" y="2423160"/>
            <a:ext cx="2542032" cy="365760"/>
          </a:xfrm>
          <a:prstGeom prst="rect">
            <a:avLst/>
          </a:prstGeom>
          <a:solidFill>
            <a:srgbClr val="1C6E8C"/>
          </a:solidFill>
          <a:ln/>
        </p:spPr>
      </p:sp>
      <p:sp>
        <p:nvSpPr>
          <p:cNvPr id="15" name="Shape 13"/>
          <p:cNvSpPr/>
          <p:nvPr/>
        </p:nvSpPr>
        <p:spPr>
          <a:xfrm>
            <a:off x="3849624" y="219456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849624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6E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70832" y="2011680"/>
            <a:ext cx="1627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視点の転換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49624" y="3017520"/>
            <a:ext cx="202996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D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「チームにどう貢献できるか」へ視点を変え、指導者や同期から客観的なアドバイスを収集。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17336" y="2194560"/>
            <a:ext cx="256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8B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64224" y="2011680"/>
            <a:ext cx="2542032" cy="3383280"/>
          </a:xfrm>
          <a:prstGeom prst="roundRect">
            <a:avLst>
              <a:gd name="adj" fmla="val 3597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38100" dir="5400000">
              <a:srgbClr val="8AA0B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64224" y="2011680"/>
            <a:ext cx="2542032" cy="777240"/>
          </a:xfrm>
          <a:prstGeom prst="roundRect">
            <a:avLst>
              <a:gd name="adj" fmla="val 11765"/>
            </a:avLst>
          </a:prstGeom>
          <a:solidFill>
            <a:srgbClr val="1C6E8C"/>
          </a:solidFill>
          <a:ln/>
        </p:spPr>
      </p:sp>
      <p:sp>
        <p:nvSpPr>
          <p:cNvPr id="22" name="Shape 20"/>
          <p:cNvSpPr/>
          <p:nvPr/>
        </p:nvSpPr>
        <p:spPr>
          <a:xfrm>
            <a:off x="6364224" y="2423160"/>
            <a:ext cx="2542032" cy="365760"/>
          </a:xfrm>
          <a:prstGeom prst="rect">
            <a:avLst/>
          </a:prstGeom>
          <a:solidFill>
            <a:srgbClr val="1C6E8C"/>
          </a:solidFill>
          <a:ln/>
        </p:spPr>
      </p:sp>
      <p:sp>
        <p:nvSpPr>
          <p:cNvPr id="23" name="Shape 21"/>
          <p:cNvSpPr/>
          <p:nvPr/>
        </p:nvSpPr>
        <p:spPr>
          <a:xfrm>
            <a:off x="6620256" y="219456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620256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6E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41464" y="2011680"/>
            <a:ext cx="1627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行動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20256" y="3017520"/>
            <a:ext cx="202996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D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課題を『守備のポジショニング』と特定。練習後に動画でフォームを確認する自主トレを半年間継続。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87968" y="2194560"/>
            <a:ext cx="256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8B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134856" y="2011680"/>
            <a:ext cx="2542032" cy="3383280"/>
          </a:xfrm>
          <a:prstGeom prst="roundRect">
            <a:avLst>
              <a:gd name="adj" fmla="val 3597"/>
            </a:avLst>
          </a:prstGeom>
          <a:solidFill>
            <a:srgbClr val="F1F5F8"/>
          </a:solidFill>
          <a:ln/>
          <a:effectLst>
            <a:outerShdw sx="100000" sy="100000" kx="0" ky="0" algn="bl" rotWithShape="0" blurRad="101600" dist="38100" dir="5400000">
              <a:srgbClr val="8AA0B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34856" y="2011680"/>
            <a:ext cx="2542032" cy="777240"/>
          </a:xfrm>
          <a:prstGeom prst="roundRect">
            <a:avLst>
              <a:gd name="adj" fmla="val 11765"/>
            </a:avLst>
          </a:prstGeom>
          <a:solidFill>
            <a:srgbClr val="18B39A"/>
          </a:solidFill>
          <a:ln/>
        </p:spPr>
      </p:sp>
      <p:sp>
        <p:nvSpPr>
          <p:cNvPr id="30" name="Shape 28"/>
          <p:cNvSpPr/>
          <p:nvPr/>
        </p:nvSpPr>
        <p:spPr>
          <a:xfrm>
            <a:off x="9134856" y="2423160"/>
            <a:ext cx="2542032" cy="365760"/>
          </a:xfrm>
          <a:prstGeom prst="rect">
            <a:avLst/>
          </a:prstGeom>
          <a:solidFill>
            <a:srgbClr val="18B39A"/>
          </a:solidFill>
          <a:ln/>
        </p:spPr>
      </p:sp>
      <p:sp>
        <p:nvSpPr>
          <p:cNvPr id="31" name="Shape 29"/>
          <p:cNvSpPr/>
          <p:nvPr/>
        </p:nvSpPr>
        <p:spPr>
          <a:xfrm>
            <a:off x="9390888" y="219456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9390888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B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912096" y="2011680"/>
            <a:ext cx="1627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390888" y="3017520"/>
            <a:ext cx="202996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D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課題を克服してレギュラーに復帰し、県大会ベスト4に貢献した。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34E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学び：課題を客観的に捉え、泥臭く改善を重ねることの重要性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3931920"/>
            <a:ext cx="5486400" cy="5486400"/>
          </a:xfrm>
          <a:prstGeom prst="ellipse">
            <a:avLst/>
          </a:prstGeom>
          <a:solidFill>
            <a:srgbClr val="163E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194560"/>
            <a:ext cx="4754880" cy="4754880"/>
          </a:xfrm>
          <a:prstGeom prst="ellipse">
            <a:avLst/>
          </a:prstGeom>
          <a:solidFill>
            <a:srgbClr val="134E6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8B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私の3つの強み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3337560" cy="2331720"/>
          </a:xfrm>
          <a:prstGeom prst="roundRect">
            <a:avLst>
              <a:gd name="adj" fmla="val 3922"/>
            </a:avLst>
          </a:prstGeom>
          <a:solidFill>
            <a:srgbClr val="163E5C"/>
          </a:solidFill>
          <a:ln/>
          <a:effectLst>
            <a:outerShdw sx="100000" sy="100000" kx="0" ky="0" algn="bl" rotWithShape="0" blurRad="101600" dist="38100" dir="5400000">
              <a:srgbClr val="8AA0B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295351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B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143000" y="365760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課題の本質を見極める力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" y="43891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7C7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多角的にヒアリングし、真因を特定してから動く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2697480"/>
            <a:ext cx="3337560" cy="2331720"/>
          </a:xfrm>
          <a:prstGeom prst="roundRect">
            <a:avLst>
              <a:gd name="adj" fmla="val 3922"/>
            </a:avLst>
          </a:prstGeom>
          <a:solidFill>
            <a:srgbClr val="163E5C"/>
          </a:solidFill>
          <a:ln/>
          <a:effectLst>
            <a:outerShdw sx="100000" sy="100000" kx="0" ky="0" algn="bl" rotWithShape="0" blurRad="101600" dist="38100" dir="5400000">
              <a:srgbClr val="8AA0B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295351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B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54880" y="365760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粘り強い実行力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43891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7C7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改善策を最後までやり切り、数値で成果を出す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2697480"/>
            <a:ext cx="3337560" cy="2331720"/>
          </a:xfrm>
          <a:prstGeom prst="roundRect">
            <a:avLst>
              <a:gd name="adj" fmla="val 3922"/>
            </a:avLst>
          </a:prstGeom>
          <a:solidFill>
            <a:srgbClr val="163E5C"/>
          </a:solidFill>
          <a:ln/>
          <a:effectLst>
            <a:outerShdw sx="100000" sy="100000" kx="0" ky="0" algn="bl" rotWithShape="0" blurRad="101600" dist="38100" dir="5400000">
              <a:srgbClr val="8AA0B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66760" y="295351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B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366760" y="365760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巻き込み力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66760" y="43891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7C7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共通の目標へ組織の一体感を醸成する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ADC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課題に対して多角的にアプローチし、泥臭く解決まで実行する力を貴社で発揮します。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山田 太郎　｜　◯◯大学 経済学部 経営学科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2026-07-17T21:07:55Z</dcterms:created>
  <dcterms:modified xsi:type="dcterms:W3CDTF">2026-07-17T21:07:55Z</dcterms:modified>
</cp:coreProperties>
</file>