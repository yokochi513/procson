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1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16305F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6305F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280160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ハッカソン成果発表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就活Tool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AIを「どう使ったか」を、再現性・汎用性の観点で振り返る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成果物（就活Tool）は結果の一部。今日お伝えしたいのは、そこに至る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AI活用のプロセスと、そのプロセスが持つ再現性・汎用性です。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5852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×  Claude API（構造化出力によるAI面接官の実装）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48256" cy="384048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本日の見せ方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成果物 3 割、プロセス 7 割で構成します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「作ったもの」より「どう作ったか」を中心にお話しします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3264408" cy="777240"/>
          </a:xfrm>
          <a:prstGeom prst="roundRect">
            <a:avLst>
              <a:gd name="adj" fmla="val 11765"/>
            </a:avLst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3959352" y="2148840"/>
            <a:ext cx="7562088" cy="777240"/>
          </a:xfrm>
          <a:prstGeom prst="roundRect">
            <a:avLst>
              <a:gd name="adj" fmla="val 11765"/>
            </a:avLst>
          </a:prstGeom>
          <a:solidFill>
            <a:srgbClr val="0E2149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48840"/>
            <a:ext cx="3264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成果物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959352" y="2148840"/>
            <a:ext cx="7562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プロセス（再現性・汎用性・効果）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3337560"/>
            <a:ext cx="3429000" cy="2331720"/>
          </a:xfrm>
          <a:prstGeom prst="roundRect">
            <a:avLst>
              <a:gd name="adj" fmla="val 4706"/>
            </a:avLst>
          </a:prstGeom>
          <a:solidFill>
            <a:srgbClr val="F4F6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11880"/>
            <a:ext cx="594360" cy="594360"/>
          </a:xfrm>
          <a:prstGeom prst="ellipse">
            <a:avLst/>
          </a:prstGeom>
          <a:solidFill>
            <a:srgbClr val="FF7A1A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216" y="3736696"/>
            <a:ext cx="344729" cy="344729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18488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再現性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14400" y="4389120"/>
            <a:ext cx="29169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第三者が同じ手順・プロンプト・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判断基準で近い結果を再現できるか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79976" y="3337560"/>
            <a:ext cx="3429000" cy="2331720"/>
          </a:xfrm>
          <a:prstGeom prst="roundRect">
            <a:avLst>
              <a:gd name="adj" fmla="val 4706"/>
            </a:avLst>
          </a:prstGeom>
          <a:solidFill>
            <a:srgbClr val="F4F6FB"/>
          </a:solidFill>
          <a:ln/>
        </p:spPr>
      </p:sp>
      <p:sp>
        <p:nvSpPr>
          <p:cNvPr id="16" name="Shape 13"/>
          <p:cNvSpPr/>
          <p:nvPr/>
        </p:nvSpPr>
        <p:spPr>
          <a:xfrm>
            <a:off x="4636008" y="3611880"/>
            <a:ext cx="594360" cy="594360"/>
          </a:xfrm>
          <a:prstGeom prst="ellipse">
            <a:avLst/>
          </a:prstGeom>
          <a:solidFill>
            <a:srgbClr val="FF7A1A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824" y="3736696"/>
            <a:ext cx="344729" cy="344729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40096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汎用性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4636008" y="4389120"/>
            <a:ext cx="29169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作ったプロンプトや進め方が、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別のお題にも活かせるか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101584" y="3337560"/>
            <a:ext cx="3429000" cy="2331720"/>
          </a:xfrm>
          <a:prstGeom prst="roundRect">
            <a:avLst>
              <a:gd name="adj" fmla="val 4706"/>
            </a:avLst>
          </a:prstGeom>
          <a:solidFill>
            <a:srgbClr val="F4F6FB"/>
          </a:solidFill>
          <a:ln/>
        </p:spPr>
      </p:sp>
      <p:sp>
        <p:nvSpPr>
          <p:cNvPr id="21" name="Shape 17"/>
          <p:cNvSpPr/>
          <p:nvPr/>
        </p:nvSpPr>
        <p:spPr>
          <a:xfrm>
            <a:off x="8357616" y="3611880"/>
            <a:ext cx="594360" cy="594360"/>
          </a:xfrm>
          <a:prstGeom prst="ellipse">
            <a:avLst/>
          </a:prstGeom>
          <a:solidFill>
            <a:srgbClr val="FF7A1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2432" y="3736696"/>
            <a:ext cx="344729" cy="344729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061704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具体的な効果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357616" y="4389120"/>
            <a:ext cx="29169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どのフェーズでAIを使い、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なぜ選び、結果どうだったか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就活Tool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就活生が抱える3つの悩み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自己分析・ES作成・面接練習——それぞれに時間とハードルがある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58368" y="2148840"/>
            <a:ext cx="3429000" cy="27432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1988820" y="2468880"/>
            <a:ext cx="777240" cy="77724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699" y="2643759"/>
            <a:ext cx="427482" cy="42748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4290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自己分析が主観的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86968" y="39319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客観的な指標で強み・適性を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把握する手段が少ない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79976" y="2148840"/>
            <a:ext cx="3429000" cy="27432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/>
        </p:spPr>
      </p:sp>
      <p:sp>
        <p:nvSpPr>
          <p:cNvPr id="12" name="Shape 9"/>
          <p:cNvSpPr/>
          <p:nvPr/>
        </p:nvSpPr>
        <p:spPr>
          <a:xfrm>
            <a:off x="5710428" y="2468880"/>
            <a:ext cx="777240" cy="77724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5307" y="2643759"/>
            <a:ext cx="427482" cy="42748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4290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面接練習の相手がいない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608576" y="39319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本番形式で練習できず、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ぶっつけ本番になりがち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01584" y="2148840"/>
            <a:ext cx="3429000" cy="27432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/>
        </p:spPr>
      </p:sp>
      <p:sp>
        <p:nvSpPr>
          <p:cNvPr id="17" name="Shape 13"/>
          <p:cNvSpPr/>
          <p:nvPr/>
        </p:nvSpPr>
        <p:spPr>
          <a:xfrm>
            <a:off x="9432036" y="2468880"/>
            <a:ext cx="777240" cy="77724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6915" y="2643759"/>
            <a:ext cx="427482" cy="42748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4290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ES添削に時間がかかる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330184" y="39319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第三者からのフィードバックを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すぐに得られない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就活Tool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527048" cy="384048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就活Tool（30%側の中身）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自己分析・ES・AI面接・企業探しを、ひとつのサイトで完結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08076" y="2377440"/>
            <a:ext cx="2011680" cy="2103120"/>
          </a:xfrm>
          <a:prstGeom prst="roundRect">
            <a:avLst>
              <a:gd name="adj" fmla="val 5455"/>
            </a:avLst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1248156" y="2651760"/>
            <a:ext cx="731520" cy="73152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2748" y="2816352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99516" y="36118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自己分析診断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848356" y="2377440"/>
            <a:ext cx="2011680" cy="2103120"/>
          </a:xfrm>
          <a:prstGeom prst="roundRect">
            <a:avLst>
              <a:gd name="adj" fmla="val 5455"/>
            </a:avLst>
          </a:prstGeom>
          <a:solidFill>
            <a:srgbClr val="F4F6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88436" y="2651760"/>
            <a:ext cx="731520" cy="73152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3028" y="281635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939796" y="36118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ES作成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88636" y="2377440"/>
            <a:ext cx="2011680" cy="2103120"/>
          </a:xfrm>
          <a:prstGeom prst="roundRect">
            <a:avLst>
              <a:gd name="adj" fmla="val 5455"/>
            </a:avLst>
          </a:prstGeom>
          <a:solidFill>
            <a:srgbClr val="0E2149"/>
          </a:solidFill>
          <a:ln/>
        </p:spPr>
      </p:sp>
      <p:sp>
        <p:nvSpPr>
          <p:cNvPr id="15" name="Shape 11"/>
          <p:cNvSpPr/>
          <p:nvPr/>
        </p:nvSpPr>
        <p:spPr>
          <a:xfrm>
            <a:off x="5728716" y="2651760"/>
            <a:ext cx="731520" cy="731520"/>
          </a:xfrm>
          <a:prstGeom prst="ellipse">
            <a:avLst/>
          </a:prstGeom>
          <a:solidFill>
            <a:srgbClr val="FF7A1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28163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80076" y="36118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AI面接練習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180076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目玉機能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7328916" y="2377440"/>
            <a:ext cx="2011680" cy="2103120"/>
          </a:xfrm>
          <a:prstGeom prst="roundRect">
            <a:avLst>
              <a:gd name="adj" fmla="val 5455"/>
            </a:avLst>
          </a:prstGeom>
          <a:solidFill>
            <a:srgbClr val="F4F6FB"/>
          </a:solidFill>
          <a:ln/>
        </p:spPr>
      </p:sp>
      <p:sp>
        <p:nvSpPr>
          <p:cNvPr id="20" name="Shape 15"/>
          <p:cNvSpPr/>
          <p:nvPr/>
        </p:nvSpPr>
        <p:spPr>
          <a:xfrm>
            <a:off x="7968996" y="2651760"/>
            <a:ext cx="731520" cy="73152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3588" y="2816352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20356" y="36118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企業検索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9569196" y="2377440"/>
            <a:ext cx="2011680" cy="2103120"/>
          </a:xfrm>
          <a:prstGeom prst="roundRect">
            <a:avLst>
              <a:gd name="adj" fmla="val 5455"/>
            </a:avLst>
          </a:prstGeom>
          <a:solidFill>
            <a:srgbClr val="F4F6FB"/>
          </a:solidFill>
          <a:ln/>
        </p:spPr>
      </p:sp>
      <p:sp>
        <p:nvSpPr>
          <p:cNvPr id="24" name="Shape 18"/>
          <p:cNvSpPr/>
          <p:nvPr/>
        </p:nvSpPr>
        <p:spPr>
          <a:xfrm>
            <a:off x="10209276" y="2651760"/>
            <a:ext cx="731520" cy="73152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3868" y="2816352"/>
            <a:ext cx="402336" cy="40233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660636" y="36118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企業マッチ度</a:t>
            </a:r>
            <a:endParaRPr lang="en-US" sz="1250" dirty="0"/>
          </a:p>
        </p:txBody>
      </p:sp>
      <p:sp>
        <p:nvSpPr>
          <p:cNvPr id="27" name="Text 20"/>
          <p:cNvSpPr/>
          <p:nvPr/>
        </p:nvSpPr>
        <p:spPr>
          <a:xfrm>
            <a:off x="640080" y="4937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詳しい機能紹介は割愛し、この後は「どう作ったか」を中心にお話しします。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就活Tool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1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開発の5フェーズすべてでAIを活用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思いつきではなく、フェーズごとに役割を決めてAIと協働した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77240" y="2286000"/>
            <a:ext cx="1965960" cy="3200400"/>
          </a:xfrm>
          <a:prstGeom prst="roundRect">
            <a:avLst>
              <a:gd name="adj" fmla="val 4651"/>
            </a:avLst>
          </a:prstGeom>
          <a:solidFill>
            <a:srgbClr val="16305F"/>
          </a:solidFill>
          <a:ln/>
        </p:spPr>
      </p:sp>
      <p:sp>
        <p:nvSpPr>
          <p:cNvPr id="7" name="Shape 5"/>
          <p:cNvSpPr/>
          <p:nvPr/>
        </p:nvSpPr>
        <p:spPr>
          <a:xfrm>
            <a:off x="1440180" y="2560320"/>
            <a:ext cx="640080" cy="640080"/>
          </a:xfrm>
          <a:prstGeom prst="ellipse">
            <a:avLst/>
          </a:prstGeom>
          <a:solidFill>
            <a:srgbClr val="FF7A1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4597" y="2694737"/>
            <a:ext cx="371246" cy="37124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①要件整理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96112" y="3840480"/>
            <a:ext cx="17282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機能・画面遷移を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対話しながら言語化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752344" y="3776472"/>
            <a:ext cx="182880" cy="219456"/>
          </a:xfrm>
          <a:prstGeom prst="rightArrow">
            <a:avLst/>
          </a:prstGeom>
          <a:solidFill>
            <a:srgbClr val="FF7A1A"/>
          </a:solidFill>
          <a:ln/>
        </p:spPr>
      </p:sp>
      <p:sp>
        <p:nvSpPr>
          <p:cNvPr id="12" name="Shape 9"/>
          <p:cNvSpPr/>
          <p:nvPr/>
        </p:nvSpPr>
        <p:spPr>
          <a:xfrm>
            <a:off x="2944368" y="2286000"/>
            <a:ext cx="1965960" cy="3200400"/>
          </a:xfrm>
          <a:prstGeom prst="roundRect">
            <a:avLst>
              <a:gd name="adj" fmla="val 4651"/>
            </a:avLst>
          </a:prstGeom>
          <a:solidFill>
            <a:srgbClr val="16305F"/>
          </a:solidFill>
          <a:ln/>
        </p:spPr>
      </p:sp>
      <p:sp>
        <p:nvSpPr>
          <p:cNvPr id="13" name="Shape 10"/>
          <p:cNvSpPr/>
          <p:nvPr/>
        </p:nvSpPr>
        <p:spPr>
          <a:xfrm>
            <a:off x="3607308" y="2560320"/>
            <a:ext cx="640080" cy="640080"/>
          </a:xfrm>
          <a:prstGeom prst="ellipse">
            <a:avLst/>
          </a:prstGeom>
          <a:solidFill>
            <a:srgbClr val="FF7A1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725" y="2694737"/>
            <a:ext cx="371246" cy="37124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35808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②設計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063240" y="3840480"/>
            <a:ext cx="17282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システムプロンプトの型・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API構成を設計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919472" y="3776472"/>
            <a:ext cx="182880" cy="219456"/>
          </a:xfrm>
          <a:prstGeom prst="rightArrow">
            <a:avLst/>
          </a:prstGeom>
          <a:solidFill>
            <a:srgbClr val="FF7A1A"/>
          </a:solidFill>
          <a:ln/>
        </p:spPr>
      </p:sp>
      <p:sp>
        <p:nvSpPr>
          <p:cNvPr id="18" name="Shape 14"/>
          <p:cNvSpPr/>
          <p:nvPr/>
        </p:nvSpPr>
        <p:spPr>
          <a:xfrm>
            <a:off x="5111496" y="2286000"/>
            <a:ext cx="1965960" cy="3200400"/>
          </a:xfrm>
          <a:prstGeom prst="roundRect">
            <a:avLst>
              <a:gd name="adj" fmla="val 4651"/>
            </a:avLst>
          </a:prstGeom>
          <a:solidFill>
            <a:srgbClr val="16305F"/>
          </a:solidFill>
          <a:ln/>
        </p:spPr>
      </p:sp>
      <p:sp>
        <p:nvSpPr>
          <p:cNvPr id="19" name="Shape 15"/>
          <p:cNvSpPr/>
          <p:nvPr/>
        </p:nvSpPr>
        <p:spPr>
          <a:xfrm>
            <a:off x="5774436" y="2560320"/>
            <a:ext cx="640080" cy="640080"/>
          </a:xfrm>
          <a:prstGeom prst="ellipse">
            <a:avLst/>
          </a:prstGeom>
          <a:solidFill>
            <a:srgbClr val="FF7A1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8853" y="2694737"/>
            <a:ext cx="371246" cy="37124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02936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③実装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230368" y="3840480"/>
            <a:ext cx="17282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APIルート・UIを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コードとして実装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086600" y="3776472"/>
            <a:ext cx="182880" cy="219456"/>
          </a:xfrm>
          <a:prstGeom prst="rightArrow">
            <a:avLst/>
          </a:prstGeom>
          <a:solidFill>
            <a:srgbClr val="FF7A1A"/>
          </a:solidFill>
          <a:ln/>
        </p:spPr>
      </p:sp>
      <p:sp>
        <p:nvSpPr>
          <p:cNvPr id="24" name="Shape 19"/>
          <p:cNvSpPr/>
          <p:nvPr/>
        </p:nvSpPr>
        <p:spPr>
          <a:xfrm>
            <a:off x="7278624" y="2286000"/>
            <a:ext cx="1965960" cy="3200400"/>
          </a:xfrm>
          <a:prstGeom prst="roundRect">
            <a:avLst>
              <a:gd name="adj" fmla="val 4651"/>
            </a:avLst>
          </a:prstGeom>
          <a:solidFill>
            <a:srgbClr val="16305F"/>
          </a:solidFill>
          <a:ln/>
        </p:spPr>
      </p:sp>
      <p:sp>
        <p:nvSpPr>
          <p:cNvPr id="25" name="Shape 20"/>
          <p:cNvSpPr/>
          <p:nvPr/>
        </p:nvSpPr>
        <p:spPr>
          <a:xfrm>
            <a:off x="7941564" y="2560320"/>
            <a:ext cx="640080" cy="640080"/>
          </a:xfrm>
          <a:prstGeom prst="ellipse">
            <a:avLst/>
          </a:prstGeom>
          <a:solidFill>
            <a:srgbClr val="FF7A1A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5981" y="2694737"/>
            <a:ext cx="371246" cy="37124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370064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④デバッグ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7397496" y="3840480"/>
            <a:ext cx="17282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生ログを取得し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事実で原因を特定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9253728" y="3776472"/>
            <a:ext cx="182880" cy="219456"/>
          </a:xfrm>
          <a:prstGeom prst="rightArrow">
            <a:avLst/>
          </a:prstGeom>
          <a:solidFill>
            <a:srgbClr val="FF7A1A"/>
          </a:solidFill>
          <a:ln/>
        </p:spPr>
      </p:sp>
      <p:sp>
        <p:nvSpPr>
          <p:cNvPr id="30" name="Shape 24"/>
          <p:cNvSpPr/>
          <p:nvPr/>
        </p:nvSpPr>
        <p:spPr>
          <a:xfrm>
            <a:off x="9445752" y="2286000"/>
            <a:ext cx="1965960" cy="3200400"/>
          </a:xfrm>
          <a:prstGeom prst="roundRect">
            <a:avLst>
              <a:gd name="adj" fmla="val 4651"/>
            </a:avLst>
          </a:prstGeom>
          <a:solidFill>
            <a:srgbClr val="16305F"/>
          </a:solidFill>
          <a:ln/>
        </p:spPr>
      </p:sp>
      <p:sp>
        <p:nvSpPr>
          <p:cNvPr id="31" name="Shape 25"/>
          <p:cNvSpPr/>
          <p:nvPr/>
        </p:nvSpPr>
        <p:spPr>
          <a:xfrm>
            <a:off x="10108692" y="2560320"/>
            <a:ext cx="640080" cy="640080"/>
          </a:xfrm>
          <a:prstGeom prst="ellipse">
            <a:avLst/>
          </a:prstGeom>
          <a:solidFill>
            <a:srgbClr val="FF7A1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3109" y="2694737"/>
            <a:ext cx="371246" cy="37124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537192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⑤資料化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9564624" y="3840480"/>
            <a:ext cx="17282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プロセスを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スライドに構造化</a:t>
            </a:r>
            <a:endParaRPr lang="en-US" sz="1050" dirty="0"/>
          </a:p>
        </p:txBody>
      </p:sp>
      <p:sp>
        <p:nvSpPr>
          <p:cNvPr id="35" name="Text 28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就活Tool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700784" cy="384048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再現性①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プロンプトを「その場の思いつき」にしない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AI面接官への指示は、誰が書いても同じ骨格になる「型」で構成した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257800" cy="3886200"/>
          </a:xfrm>
          <a:prstGeom prst="roundRect">
            <a:avLst>
              <a:gd name="adj" fmla="val 2824"/>
            </a:avLst>
          </a:prstGeom>
          <a:solidFill>
            <a:srgbClr val="0E214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774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実際に使ったシステムプロンプトの構成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880360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FF7A1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8803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28803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面接官として何をするか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14400" y="3429000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FF7A1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面接の流れ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34290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挨拶→質問→…→終了 の順番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" y="3977640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FF7A1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9776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質問方法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68880" y="39776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一度に1問、深掘りは1〜2回まで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4526280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FF7A1A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526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回答への対応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68880" y="45262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相づち→良い点→深掘り→次の質問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4400" y="5074920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FF7A1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0749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禁止事項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468880" y="5074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説教しない／回答例を書かない 等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4400" y="5623560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FF7A1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6235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468880" y="56235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/ category / finished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263640" y="21488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なぜ「型」にしたのか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263640" y="265176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自由記述のプロンプトは、書く人・書くたびに構成がブレる。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「型」に沿って項目を埋める形にすれば、誰が書いても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同じ判断基準の指示になり、結果も再現しやすくなる。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63640" y="3840480"/>
            <a:ext cx="292608" cy="292608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4846" y="3891686"/>
            <a:ext cx="190195" cy="190195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702552" y="37947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企業面接・ES面接・一般面接の3画面すべてが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同じ型を共有（buildInterviewerSystem関数）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263640" y="4617720"/>
            <a:ext cx="292608" cy="292608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846" y="4668926"/>
            <a:ext cx="190195" cy="190195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702552" y="457200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項目を差し替えるだけで別の面接シナリオにも流用できる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6263640" y="5394960"/>
            <a:ext cx="292608" cy="292608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846" y="5446166"/>
            <a:ext cx="190195" cy="190195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702552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コードとして残るため、後から見直し・改善ができる</a:t>
            </a:r>
            <a:endParaRPr lang="en-US" sz="1150" dirty="0"/>
          </a:p>
        </p:txBody>
      </p:sp>
      <p:sp>
        <p:nvSpPr>
          <p:cNvPr id="37" name="Text 32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就活Tool</a:t>
            </a:r>
            <a:endParaRPr lang="en-US" sz="1000" dirty="0"/>
          </a:p>
        </p:txBody>
      </p:sp>
      <p:sp>
        <p:nvSpPr>
          <p:cNvPr id="38" name="Text 3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700784" cy="384048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再現性②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「勘」ではなく、判断基準をルール化した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デバッグとモデル選定、どちらも同じ手順・同じ基準で判断できるようにした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257800" cy="4160520"/>
          </a:xfrm>
          <a:prstGeom prst="roundRect">
            <a:avLst>
              <a:gd name="adj" fmla="val 2637"/>
            </a:avLst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2423160"/>
            <a:ext cx="502920" cy="50292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523744"/>
            <a:ext cx="301752" cy="3017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242316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デバッグの型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症状を言語化する（画面がどうおかしいか）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14400" y="3877056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response.content / stop_reason / usage 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生ログでそのまま出力する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4645152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ログの事実だけをもとに修正する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（推測での修正はしない）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14400" y="5504688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0E2149"/>
          </a:solidFill>
          <a:ln/>
        </p:spPr>
      </p:sp>
      <p:sp>
        <p:nvSpPr>
          <p:cNvPr id="14" name="Text 11"/>
          <p:cNvSpPr/>
          <p:nvPr/>
        </p:nvSpPr>
        <p:spPr>
          <a:xfrm>
            <a:off x="1097280" y="555040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本番のデバッグでも同じ手順を2回実施し、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いずれも一次情報から根本原因を特定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263640" y="2148840"/>
            <a:ext cx="5257800" cy="4160520"/>
          </a:xfrm>
          <a:prstGeom prst="roundRect">
            <a:avLst>
              <a:gd name="adj" fmla="val 2637"/>
            </a:avLst>
          </a:prstGeom>
          <a:solidFill>
            <a:srgbClr val="F4F6FB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7960" y="2423160"/>
            <a:ext cx="502920" cy="502920"/>
          </a:xfrm>
          <a:prstGeom prst="ellipse">
            <a:avLst/>
          </a:prstGeom>
          <a:solidFill>
            <a:srgbClr val="FF7A1A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573" y="2528773"/>
            <a:ext cx="291694" cy="29169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42316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モデル選定の型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537960" y="310896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判断基準：体験の質を落とさない範囲で、最速・最安のモデルを選ぶ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537960" y="3794760"/>
            <a:ext cx="187452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</p:spPr>
      </p:sp>
      <p:sp>
        <p:nvSpPr>
          <p:cNvPr id="21" name="Text 17"/>
          <p:cNvSpPr/>
          <p:nvPr/>
        </p:nvSpPr>
        <p:spPr>
          <a:xfrm>
            <a:off x="6647688" y="37947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最上位品質が必要か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8549640" y="379476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E2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4.8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6537960" y="4507992"/>
            <a:ext cx="187452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</p:spPr>
      </p:sp>
      <p:sp>
        <p:nvSpPr>
          <p:cNvPr id="24" name="Text 20"/>
          <p:cNvSpPr/>
          <p:nvPr/>
        </p:nvSpPr>
        <p:spPr>
          <a:xfrm>
            <a:off x="6647688" y="4507992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速度・コスト優先か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8549640" y="4507992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E2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5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537960" y="5221224"/>
            <a:ext cx="187452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6647688" y="5221224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採用結果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8549640" y="5221224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E2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面接API・ESフィードバックAPI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E2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ともにSonnet 5に統一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就活Tool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21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汎用性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この「型」は、就活Tool専用ではない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プロンプトの型・デバッグの型・フェーズ設計は、別のお題にもそのまま持ち込める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4297680" cy="1188720"/>
          </a:xfrm>
          <a:prstGeom prst="roundRect">
            <a:avLst>
              <a:gd name="adj" fmla="val 7692"/>
            </a:avLst>
          </a:prstGeom>
          <a:solidFill>
            <a:srgbClr val="1630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945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構造化出力の型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（json_schemaで形式を保証）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257800" y="2642616"/>
            <a:ext cx="502920" cy="292608"/>
          </a:xfrm>
          <a:prstGeom prst="rightArrow">
            <a:avLst/>
          </a:prstGeom>
          <a:solidFill>
            <a:srgbClr val="FF7A1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0" y="2194560"/>
            <a:ext cx="5120640" cy="1188720"/>
          </a:xfrm>
          <a:prstGeom prst="roundRect">
            <a:avLst>
              <a:gd name="adj" fmla="val 7692"/>
            </a:avLst>
          </a:prstGeom>
          <a:solidFill>
            <a:srgbClr val="FF7A1A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21945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チャットボット・自動採点・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レコメンド等、AIにJSONで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答えさせたい機能全般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566160"/>
            <a:ext cx="4297680" cy="1188720"/>
          </a:xfrm>
          <a:prstGeom prst="roundRect">
            <a:avLst>
              <a:gd name="adj" fmla="val 7692"/>
            </a:avLst>
          </a:prstGeom>
          <a:solidFill>
            <a:srgbClr val="16305F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5661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デバッグの型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（生ログ→事実→修正）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257800" y="4014216"/>
            <a:ext cx="502920" cy="292608"/>
          </a:xfrm>
          <a:prstGeom prst="rightArrow">
            <a:avLst/>
          </a:prstGeom>
          <a:solidFill>
            <a:srgbClr val="FF7A1A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0" y="3566160"/>
            <a:ext cx="5120640" cy="1188720"/>
          </a:xfrm>
          <a:prstGeom prst="roundRect">
            <a:avLst>
              <a:gd name="adj" fmla="val 7692"/>
            </a:avLst>
          </a:prstGeom>
          <a:solidFill>
            <a:srgbClr val="FF7A1A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35661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業種・技術を問わず、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API統合を伴う開発全般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937760"/>
            <a:ext cx="4297680" cy="1188720"/>
          </a:xfrm>
          <a:prstGeom prst="roundRect">
            <a:avLst>
              <a:gd name="adj" fmla="val 7692"/>
            </a:avLst>
          </a:prstGeom>
          <a:solidFill>
            <a:srgbClr val="1630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9377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5フェーズ×AI活用マップ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（要件整理〜資料化）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257800" y="5385816"/>
            <a:ext cx="502920" cy="292608"/>
          </a:xfrm>
          <a:prstGeom prst="rightArrow">
            <a:avLst/>
          </a:prstGeom>
          <a:solidFill>
            <a:srgbClr val="FF7A1A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0" y="4937760"/>
            <a:ext cx="5120640" cy="1188720"/>
          </a:xfrm>
          <a:prstGeom prst="roundRect">
            <a:avLst>
              <a:gd name="adj" fmla="val 7692"/>
            </a:avLst>
          </a:prstGeom>
          <a:solidFill>
            <a:srgbClr val="FF7A1A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49377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別のお題のハッカソン・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新規プロジェクトの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進め方そのもの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就活Tool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プロセスを型にした結果、何が変わったか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定量・定性の両面で、再現性のあるプロセスの効果が確認できた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53796" y="21945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909828" y="2606040"/>
            <a:ext cx="685800" cy="68580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846" y="2750058"/>
            <a:ext cx="397764" cy="3977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51076" y="24231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JSONパースエラー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751076" y="29260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構造化出力の導入前は発生していた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形式崩れが、導入後は0件に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77356" y="21945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4F6FB"/>
          </a:solidFill>
          <a:ln/>
        </p:spPr>
      </p:sp>
      <p:sp>
        <p:nvSpPr>
          <p:cNvPr id="12" name="Shape 9"/>
          <p:cNvSpPr/>
          <p:nvPr/>
        </p:nvSpPr>
        <p:spPr>
          <a:xfrm>
            <a:off x="6533388" y="2606040"/>
            <a:ext cx="685800" cy="68580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7406" y="2750058"/>
            <a:ext cx="397764" cy="3977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74636" y="24231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原因調査の手戻り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374636" y="29260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推測での修正 0回。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ログ取得1回で根本原因を特定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53796" y="40233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4F6FB"/>
          </a:solidFill>
          <a:ln/>
        </p:spPr>
      </p:sp>
      <p:sp>
        <p:nvSpPr>
          <p:cNvPr id="17" name="Shape 13"/>
          <p:cNvSpPr/>
          <p:nvPr/>
        </p:nvSpPr>
        <p:spPr>
          <a:xfrm>
            <a:off x="909828" y="4434840"/>
            <a:ext cx="685800" cy="68580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46" y="4578858"/>
            <a:ext cx="397764" cy="39776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751076" y="42519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検証コストの意識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751076" y="47548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動作確認のAPI呼び出しは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原則1回に限定して判断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77356" y="4023360"/>
            <a:ext cx="5257800" cy="1554480"/>
          </a:xfrm>
          <a:prstGeom prst="roundRect">
            <a:avLst>
              <a:gd name="adj" fmla="val 5882"/>
            </a:avLst>
          </a:prstGeom>
          <a:solidFill>
            <a:srgbClr val="F4F6FB"/>
          </a:solidFill>
          <a:ln/>
        </p:spPr>
      </p:sp>
      <p:sp>
        <p:nvSpPr>
          <p:cNvPr id="22" name="Shape 17"/>
          <p:cNvSpPr/>
          <p:nvPr/>
        </p:nvSpPr>
        <p:spPr>
          <a:xfrm>
            <a:off x="6533388" y="4434840"/>
            <a:ext cx="685800" cy="68580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7406" y="4578858"/>
            <a:ext cx="397764" cy="39776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374636" y="42519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モデル選定の一貫性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7374636" y="47548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2つのAPI（面接・ES）で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同じ基準に沿って統一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就活Tool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221992" cy="384048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参考：技術構成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Next.js × Claude API のシンプルな構成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50976" y="2560320"/>
            <a:ext cx="2880360" cy="1417320"/>
          </a:xfrm>
          <a:prstGeom prst="roundRect">
            <a:avLst>
              <a:gd name="adj" fmla="val 7742"/>
            </a:avLst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2098548" y="2724912"/>
            <a:ext cx="585216" cy="585216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5591" y="2841955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88136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ブラウザ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088136" y="36758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/ チャットUI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831336" y="3122676"/>
            <a:ext cx="731520" cy="292608"/>
          </a:xfrm>
          <a:prstGeom prst="rightArrow">
            <a:avLst/>
          </a:prstGeom>
          <a:solidFill>
            <a:srgbClr val="FF7A1A"/>
          </a:solidFill>
          <a:ln/>
        </p:spPr>
      </p:sp>
      <p:sp>
        <p:nvSpPr>
          <p:cNvPr id="11" name="Shape 8"/>
          <p:cNvSpPr/>
          <p:nvPr/>
        </p:nvSpPr>
        <p:spPr>
          <a:xfrm>
            <a:off x="4654296" y="2560320"/>
            <a:ext cx="2880360" cy="1417320"/>
          </a:xfrm>
          <a:prstGeom prst="roundRect">
            <a:avLst>
              <a:gd name="adj" fmla="val 7742"/>
            </a:avLst>
          </a:prstGeom>
          <a:solidFill>
            <a:srgbClr val="0E2149"/>
          </a:solidFill>
          <a:ln/>
        </p:spPr>
      </p:sp>
      <p:sp>
        <p:nvSpPr>
          <p:cNvPr id="12" name="Shape 9"/>
          <p:cNvSpPr/>
          <p:nvPr/>
        </p:nvSpPr>
        <p:spPr>
          <a:xfrm>
            <a:off x="5801868" y="2724912"/>
            <a:ext cx="585216" cy="585216"/>
          </a:xfrm>
          <a:prstGeom prst="ellipse">
            <a:avLst/>
          </a:prstGeom>
          <a:solidFill>
            <a:srgbClr val="FF7A1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911" y="2841955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91456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Next.js API Route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791456" y="36758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構造化出力の組み立て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534656" y="3122676"/>
            <a:ext cx="731520" cy="292608"/>
          </a:xfrm>
          <a:prstGeom prst="rightArrow">
            <a:avLst/>
          </a:prstGeom>
          <a:solidFill>
            <a:srgbClr val="FF7A1A"/>
          </a:solidFill>
          <a:ln/>
        </p:spPr>
      </p:sp>
      <p:sp>
        <p:nvSpPr>
          <p:cNvPr id="17" name="Shape 13"/>
          <p:cNvSpPr/>
          <p:nvPr/>
        </p:nvSpPr>
        <p:spPr>
          <a:xfrm>
            <a:off x="8357616" y="2560320"/>
            <a:ext cx="2880360" cy="1417320"/>
          </a:xfrm>
          <a:prstGeom prst="roundRect">
            <a:avLst>
              <a:gd name="adj" fmla="val 7742"/>
            </a:avLst>
          </a:prstGeom>
          <a:solidFill>
            <a:srgbClr val="F4F6FB"/>
          </a:solidFill>
          <a:ln/>
        </p:spPr>
      </p:sp>
      <p:sp>
        <p:nvSpPr>
          <p:cNvPr id="18" name="Shape 14"/>
          <p:cNvSpPr/>
          <p:nvPr/>
        </p:nvSpPr>
        <p:spPr>
          <a:xfrm>
            <a:off x="9505188" y="2724912"/>
            <a:ext cx="585216" cy="585216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2231" y="284195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94776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API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8494776" y="36758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claude-sonnet-5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就活Tool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114800"/>
            <a:ext cx="4572000" cy="4572000"/>
          </a:xfrm>
          <a:prstGeom prst="ellipse">
            <a:avLst/>
          </a:prstGeom>
          <a:solidFill>
            <a:srgbClr val="F4F6F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2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まとめ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65760" cy="36576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90195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7830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プロンプトを「型」にし、誰が実行しても同じ判断基準で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再現できる状態をつくった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697480"/>
            <a:ext cx="365760" cy="36576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26517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デバッグ・モデル選定のルールを明文化し、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一貫した判断で開発を進めた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40080" y="3566160"/>
            <a:ext cx="365760" cy="365760"/>
          </a:xfrm>
          <a:prstGeom prst="ellipse">
            <a:avLst/>
          </a:prstGeom>
          <a:solidFill>
            <a:srgbClr val="0E2149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639312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88720" y="35204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この型は就活Tool専用ではなく、別のお題・別の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プロジェクトにも転用できる汎用的なプロセス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40080" y="4663440"/>
            <a:ext cx="7772400" cy="1371600"/>
          </a:xfrm>
          <a:prstGeom prst="roundRect">
            <a:avLst>
              <a:gd name="adj" fmla="val 9333"/>
            </a:avLst>
          </a:prstGeom>
          <a:solidFill>
            <a:srgbClr val="0E2149"/>
          </a:solidFill>
          <a:ln/>
        </p:spPr>
      </p:sp>
      <p:sp>
        <p:nvSpPr>
          <p:cNvPr id="14" name="Text 9"/>
          <p:cNvSpPr/>
          <p:nvPr/>
        </p:nvSpPr>
        <p:spPr>
          <a:xfrm>
            <a:off x="1005840" y="4663440"/>
            <a:ext cx="7040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ご清聴ありがとうございました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就活Tool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2026-07-17T06:36:58Z</dcterms:created>
  <dcterms:modified xsi:type="dcterms:W3CDTF">2026-07-17T06:36:58Z</dcterms:modified>
</cp:coreProperties>
</file>