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0152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Yu Gothic"/>
              </a:rPr>
              <a:t>Claude Skills でスライドを作る</a:t>
            </a:r>
          </a:p>
          <a:p>
            <a:pPr algn="ctr">
              <a:lnSpc>
                <a:spcPct val="125000"/>
              </a:lnSpc>
              <a:spcBef>
                <a:spcPts val="1600"/>
              </a:spcBef>
            </a:pPr>
            <a:r>
              <a:rPr sz="2400" b="0">
                <a:solidFill>
                  <a:srgbClr val="FFFFFF"/>
                </a:solidFill>
                <a:latin typeface="Yu Gothic"/>
              </a:rPr>
              <a:t>〜 マークダウンを渡すだけでスライドが作れる型 〜</a:t>
            </a:r>
          </a:p>
          <a:p>
            <a:pPr algn="ctr">
              <a:lnSpc>
                <a:spcPct val="125000"/>
              </a:lnSpc>
              <a:spcBef>
                <a:spcPts val="1600"/>
              </a:spcBef>
            </a:pPr>
            <a:r>
              <a:rPr sz="2000" b="0">
                <a:solidFill>
                  <a:srgbClr val="FFFFFF"/>
                </a:solidFill>
                <a:latin typeface="Yu Gothic"/>
              </a:rPr>
              <a:t>チームUNO ｜ ハッカソン成果発表 ｜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B3D5C"/>
                </a:solidFill>
                <a:latin typeface="Yu Gothic"/>
              </a:rPr>
              <a:t>この発表のゴール：AIでスライドを作る「型」を共有する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17320"/>
            <a:ext cx="110642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0">
                <a:solidFill>
                  <a:srgbClr val="1F2933"/>
                </a:solidFill>
                <a:latin typeface="Yu Gothic"/>
              </a:rPr>
              <a:t>一か月のハッカソンで取り組んだ </a:t>
            </a:r>
            <a:r>
              <a:rPr sz="2400" b="1">
                <a:solidFill>
                  <a:srgbClr val="0F766E"/>
                </a:solidFill>
                <a:latin typeface="Yu Gothic"/>
              </a:rPr>
              <a:t>成果を共有</a:t>
            </a:r>
            <a:r>
              <a:rPr sz="2400" b="0">
                <a:solidFill>
                  <a:srgbClr val="1F2933"/>
                </a:solidFill>
                <a:latin typeface="Yu Gothic"/>
              </a:rPr>
              <a:t> する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0">
                <a:solidFill>
                  <a:srgbClr val="1F2933"/>
                </a:solidFill>
                <a:latin typeface="Yu Gothic"/>
              </a:rPr>
              <a:t>テーマは「</a:t>
            </a:r>
            <a:r>
              <a:rPr sz="2400" b="1">
                <a:solidFill>
                  <a:srgbClr val="0F766E"/>
                </a:solidFill>
                <a:latin typeface="Yu Gothic"/>
              </a:rPr>
              <a:t>AIツール（Claude Skills）でスライドを作る</a:t>
            </a:r>
            <a:r>
              <a:rPr sz="2400" b="0">
                <a:solidFill>
                  <a:srgbClr val="1F2933"/>
                </a:solidFill>
                <a:latin typeface="Yu Gothic"/>
              </a:rPr>
              <a:t>」取り組み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606D"/>
                </a:solidFill>
                <a:latin typeface="Yu Gothic"/>
              </a:rPr>
              <a:t>→ 単なる成果報告ではなく、「同じやり方を他の人・他の作業にも使ってほしい」がねらい。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B3D5C"/>
                </a:solidFill>
                <a:latin typeface="Yu Gothic"/>
              </a:rPr>
              <a:t>つくったもの：マークダウンを渡すだけでスライドが作れる型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17320"/>
            <a:ext cx="110642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タイトル：</a:t>
            </a:r>
            <a:r>
              <a:rPr sz="2400" b="0">
                <a:solidFill>
                  <a:srgbClr val="1F2933"/>
                </a:solidFill>
                <a:latin typeface="Yu Gothic"/>
              </a:rPr>
              <a:t> マークダウンを渡すだけでスライドが作れる型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主な機能・特徴：</a:t>
            </a:r>
          </a:p>
          <a:p>
            <a:pPr lvl="1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52606D"/>
                </a:solidFill>
                <a:latin typeface="Yu Gothic"/>
              </a:rPr>
              <a:t>–  </a:t>
            </a:r>
            <a:r>
              <a:rPr sz="2000" b="0">
                <a:solidFill>
                  <a:srgbClr val="52606D"/>
                </a:solidFill>
                <a:latin typeface="Yu Gothic"/>
              </a:rPr>
              <a:t>マークダウン形式の資料を渡すと、</a:t>
            </a:r>
            <a:r>
              <a:rPr sz="2000" b="1">
                <a:solidFill>
                  <a:srgbClr val="0F766E"/>
                </a:solidFill>
                <a:latin typeface="Yu Gothic"/>
              </a:rPr>
              <a:t>対話しながらスライドを生成</a:t>
            </a:r>
          </a:p>
          <a:p>
            <a:pPr lvl="1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52606D"/>
                </a:solidFill>
                <a:latin typeface="Yu Gothic"/>
              </a:rPr>
              <a:t>–  </a:t>
            </a:r>
            <a:r>
              <a:rPr sz="2000" b="0">
                <a:solidFill>
                  <a:srgbClr val="52606D"/>
                </a:solidFill>
                <a:latin typeface="Yu Gothic"/>
              </a:rPr>
              <a:t>デザインの希望（</a:t>
            </a:r>
            <a:r>
              <a:rPr sz="2000" b="1">
                <a:solidFill>
                  <a:srgbClr val="0F766E"/>
                </a:solidFill>
                <a:latin typeface="Yu Gothic"/>
              </a:rPr>
              <a:t>URL・イメージ</a:t>
            </a:r>
            <a:r>
              <a:rPr sz="2000" b="0">
                <a:solidFill>
                  <a:srgbClr val="52606D"/>
                </a:solidFill>
                <a:latin typeface="Yu Gothic"/>
              </a:rPr>
              <a:t>）を反映できる</a:t>
            </a:r>
          </a:p>
          <a:p>
            <a:pPr lvl="1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52606D"/>
                </a:solidFill>
                <a:latin typeface="Yu Gothic"/>
              </a:rPr>
              <a:t>–  </a:t>
            </a:r>
            <a:r>
              <a:rPr sz="2000" b="0">
                <a:solidFill>
                  <a:srgbClr val="52606D"/>
                </a:solidFill>
                <a:latin typeface="Yu Gothic"/>
              </a:rPr>
              <a:t>完成前に </a:t>
            </a:r>
            <a:r>
              <a:rPr sz="2000" b="1">
                <a:solidFill>
                  <a:srgbClr val="0F766E"/>
                </a:solidFill>
                <a:latin typeface="Yu Gothic"/>
              </a:rPr>
              <a:t>HTML でプレビュー</a:t>
            </a:r>
            <a:r>
              <a:rPr sz="2000" b="0">
                <a:solidFill>
                  <a:srgbClr val="52606D"/>
                </a:solidFill>
                <a:latin typeface="Yu Gothic"/>
              </a:rPr>
              <a:t>し、確認してから仕上げる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606D"/>
                </a:solidFill>
                <a:latin typeface="Yu Gothic"/>
              </a:rPr>
              <a:t>＝ 「作り直すたびに仕上がりがブレる」を、対話と確認で潰す仕組み。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B3D5C"/>
                </a:solidFill>
                <a:latin typeface="Yu Gothic"/>
              </a:rPr>
              <a:t>AIの使い方①：Claude Skills を、スライド作成そのものに使った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17320"/>
            <a:ext cx="110642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使用したAIツール：</a:t>
            </a:r>
            <a:r>
              <a:rPr sz="2400" b="0">
                <a:solidFill>
                  <a:srgbClr val="1F2933"/>
                </a:solidFill>
                <a:latin typeface="Yu Gothic"/>
              </a:rPr>
              <a:t> Claude Skills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使った場面：</a:t>
            </a:r>
            <a:r>
              <a:rPr sz="2400" b="0">
                <a:solidFill>
                  <a:srgbClr val="1F2933"/>
                </a:solidFill>
                <a:latin typeface="Yu Gothic"/>
              </a:rPr>
              <a:t> この発表スライド（本資料）の作成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606D"/>
                </a:solidFill>
                <a:latin typeface="Yu Gothic"/>
              </a:rPr>
              <a:t>今まさに映しているこの資料が、その成果物です。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B3D5C"/>
                </a:solidFill>
                <a:latin typeface="Yu Gothic"/>
              </a:rPr>
              <a:t>AIの使い方②：プロンプトは「曖昧さを消す」ために工夫した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17320"/>
            <a:ext cx="110642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0">
                <a:solidFill>
                  <a:srgbClr val="1F2933"/>
                </a:solidFill>
                <a:latin typeface="Yu Gothic"/>
              </a:rPr>
              <a:t>記載内容は、別途つくった </a:t>
            </a:r>
            <a:r>
              <a:rPr sz="2400" b="1">
                <a:solidFill>
                  <a:srgbClr val="0F766E"/>
                </a:solidFill>
                <a:latin typeface="Yu Gothic"/>
              </a:rPr>
              <a:t>マークダウン形式の資料を添付</a:t>
            </a:r>
            <a:r>
              <a:rPr sz="2400" b="0">
                <a:solidFill>
                  <a:srgbClr val="1F2933"/>
                </a:solidFill>
                <a:latin typeface="Yu Gothic"/>
              </a:rPr>
              <a:t>させる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0">
                <a:solidFill>
                  <a:srgbClr val="1F2933"/>
                </a:solidFill>
                <a:latin typeface="Yu Gothic"/>
              </a:rPr>
              <a:t>デザインは希望に合わせられるよう、</a:t>
            </a:r>
            <a:r>
              <a:rPr sz="2400" b="1">
                <a:solidFill>
                  <a:srgbClr val="0F766E"/>
                </a:solidFill>
                <a:latin typeface="Yu Gothic"/>
              </a:rPr>
              <a:t>参考URL・デザインを送る</a:t>
            </a:r>
            <a:r>
              <a:rPr sz="2400" b="0">
                <a:solidFill>
                  <a:srgbClr val="1F2933"/>
                </a:solidFill>
                <a:latin typeface="Yu Gothic"/>
              </a:rPr>
              <a:t>よう指示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具体的な数値を入れる</a:t>
            </a:r>
            <a:r>
              <a:rPr sz="2400" b="0">
                <a:solidFill>
                  <a:srgbClr val="1F2933"/>
                </a:solidFill>
                <a:latin typeface="Yu Gothic"/>
              </a:rPr>
              <a:t>よう指示する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不明点は質問させる</a:t>
            </a:r>
            <a:r>
              <a:rPr sz="2400" b="0">
                <a:solidFill>
                  <a:srgbClr val="1F2933"/>
                </a:solidFill>
                <a:latin typeface="Yu Gothic"/>
              </a:rPr>
              <a:t>（勝手に判断させない）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0">
                <a:solidFill>
                  <a:srgbClr val="1F2933"/>
                </a:solidFill>
                <a:latin typeface="Yu Gothic"/>
              </a:rPr>
              <a:t>完成版の前に </a:t>
            </a:r>
            <a:r>
              <a:rPr sz="2400" b="1">
                <a:solidFill>
                  <a:srgbClr val="0F766E"/>
                </a:solidFill>
                <a:latin typeface="Yu Gothic"/>
              </a:rPr>
              <a:t>HTMLを見せてOKをもらう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B3D5C"/>
                </a:solidFill>
                <a:latin typeface="Yu Gothic"/>
              </a:rPr>
              <a:t>一番つまずいた点：作るたびに仕上がりが変わる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17320"/>
            <a:ext cx="110642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0">
                <a:solidFill>
                  <a:srgbClr val="1F2933"/>
                </a:solidFill>
                <a:latin typeface="Yu Gothic"/>
              </a:rPr>
              <a:t>デザインする際、</a:t>
            </a:r>
            <a:r>
              <a:rPr sz="2400" b="1">
                <a:solidFill>
                  <a:srgbClr val="0F766E"/>
                </a:solidFill>
                <a:latin typeface="Yu Gothic"/>
              </a:rPr>
              <a:t>作成するたびに仕上がりが変わり</a:t>
            </a:r>
            <a:r>
              <a:rPr sz="2400" b="0">
                <a:solidFill>
                  <a:srgbClr val="1F2933"/>
                </a:solidFill>
                <a:latin typeface="Yu Gothic"/>
              </a:rPr>
              <a:t>、思い通りのスライドを作れなかった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0">
                <a:solidFill>
                  <a:srgbClr val="1F2933"/>
                </a:solidFill>
                <a:latin typeface="Yu Gothic"/>
              </a:rPr>
              <a:t>ばらついたのは主にこの4点：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047" y="4023360"/>
          <a:ext cx="1051560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文字数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テキストサイズ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配置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色味</a:t>
                      </a:r>
                    </a:p>
                  </a:txBody>
                  <a:tcPr anchor="ctr">
                    <a:solidFill>
                      <a:srgbClr val="0B3D5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606D"/>
                </a:solidFill>
                <a:latin typeface="Yu Gothic"/>
              </a:rPr>
              <a:t>＝ 「うまくいった一回」を、次にもう一度は再現できなかった。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B3D5C"/>
                </a:solidFill>
                <a:latin typeface="Yu Gothic"/>
              </a:rPr>
              <a:t>どう乗り越えたか：AI自身に、解決策と現状を整理させた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17320"/>
            <a:ext cx="110642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AIに解決策を出させる</a:t>
            </a:r>
          </a:p>
          <a:p>
            <a:pPr lvl="1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52606D"/>
                </a:solidFill>
                <a:latin typeface="Yu Gothic"/>
              </a:rPr>
              <a:t>–  </a:t>
            </a:r>
            <a:r>
              <a:rPr sz="2000" b="0">
                <a:solidFill>
                  <a:srgbClr val="52606D"/>
                </a:solidFill>
                <a:latin typeface="Yu Gothic"/>
              </a:rPr>
              <a:t>「〜に困っているので、解決するための策を◯つ挙げてください」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AIに現状を整理させる</a:t>
            </a:r>
          </a:p>
          <a:p>
            <a:pPr lvl="1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52606D"/>
                </a:solidFill>
                <a:latin typeface="Yu Gothic"/>
              </a:rPr>
              <a:t>–  </a:t>
            </a:r>
            <a:r>
              <a:rPr sz="2000" b="0">
                <a:solidFill>
                  <a:srgbClr val="52606D"/>
                </a:solidFill>
                <a:latin typeface="Yu Gothic"/>
              </a:rPr>
              <a:t>「〜に困っていて〜したいので、現状の〜について教えてください」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AIの提案を土台にする</a:t>
            </a:r>
          </a:p>
          <a:p>
            <a:pPr lvl="1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52606D"/>
                </a:solidFill>
                <a:latin typeface="Yu Gothic"/>
              </a:rPr>
              <a:t>–  </a:t>
            </a:r>
            <a:r>
              <a:rPr sz="2000" b="0">
                <a:solidFill>
                  <a:srgbClr val="52606D"/>
                </a:solidFill>
                <a:latin typeface="Yu Gothic"/>
              </a:rPr>
              <a:t>生成AIが作った手順書のプロンプト文を参考にする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606D"/>
                </a:solidFill>
                <a:latin typeface="Yu Gothic"/>
              </a:rPr>
              <a:t>＝ 自分で悩むより、AIに"詰まっている点"を投げて整理させる方が速かった。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B3D5C"/>
                </a:solidFill>
                <a:latin typeface="Yu Gothic"/>
              </a:rPr>
              <a:t>学んだこと：AIに"曖昧な判断"をさせない工夫が重要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17320"/>
            <a:ext cx="110642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AIと協働するときは、AIに"曖昧な判断"をさせない工夫がカギ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0">
                <a:solidFill>
                  <a:srgbClr val="1F2933"/>
                </a:solidFill>
                <a:latin typeface="Yu Gothic"/>
              </a:rPr>
              <a:t>具体的には：</a:t>
            </a:r>
          </a:p>
          <a:p>
            <a:pPr lvl="1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52606D"/>
                </a:solidFill>
                <a:latin typeface="Yu Gothic"/>
              </a:rPr>
              <a:t>–  </a:t>
            </a:r>
            <a:r>
              <a:rPr sz="2000" b="1">
                <a:solidFill>
                  <a:srgbClr val="0F766E"/>
                </a:solidFill>
                <a:latin typeface="Yu Gothic"/>
              </a:rPr>
              <a:t>数値で表現</a:t>
            </a:r>
            <a:r>
              <a:rPr sz="2000" b="0">
                <a:solidFill>
                  <a:srgbClr val="52606D"/>
                </a:solidFill>
                <a:latin typeface="Yu Gothic"/>
              </a:rPr>
              <a:t>する</a:t>
            </a:r>
          </a:p>
          <a:p>
            <a:pPr lvl="1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52606D"/>
                </a:solidFill>
                <a:latin typeface="Yu Gothic"/>
              </a:rPr>
              <a:t>–  </a:t>
            </a:r>
            <a:r>
              <a:rPr sz="2000" b="0">
                <a:solidFill>
                  <a:srgbClr val="52606D"/>
                </a:solidFill>
                <a:latin typeface="Yu Gothic"/>
              </a:rPr>
              <a:t>分からないことは </a:t>
            </a:r>
            <a:r>
              <a:rPr sz="2000" b="1">
                <a:solidFill>
                  <a:srgbClr val="0F766E"/>
                </a:solidFill>
                <a:latin typeface="Yu Gothic"/>
              </a:rPr>
              <a:t>質問してもらう</a:t>
            </a:r>
          </a:p>
          <a:p>
            <a:pPr lvl="1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52606D"/>
                </a:solidFill>
                <a:latin typeface="Yu Gothic"/>
              </a:rPr>
              <a:t>–  </a:t>
            </a:r>
            <a:r>
              <a:rPr sz="2000" b="0">
                <a:solidFill>
                  <a:srgbClr val="52606D"/>
                </a:solidFill>
                <a:latin typeface="Yu Gothic"/>
              </a:rPr>
              <a:t>PPTにする前に </a:t>
            </a:r>
            <a:r>
              <a:rPr sz="2000" b="1">
                <a:solidFill>
                  <a:srgbClr val="0F766E"/>
                </a:solidFill>
                <a:latin typeface="Yu Gothic"/>
              </a:rPr>
              <a:t>HTMLを確認してOKをもらう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000" b="1">
                <a:solidFill>
                  <a:srgbClr val="0B3D5C"/>
                </a:solidFill>
                <a:latin typeface="Yu Gothic"/>
              </a:rPr>
              <a:t>次に活かす：明確な指示 → 確認 → 仕上げ を他の作業へ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17320"/>
            <a:ext cx="110642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0">
                <a:solidFill>
                  <a:srgbClr val="1F2933"/>
                </a:solidFill>
                <a:latin typeface="Yu Gothic"/>
              </a:rPr>
              <a:t>「</a:t>
            </a:r>
            <a:r>
              <a:rPr sz="2400" b="1">
                <a:solidFill>
                  <a:srgbClr val="0F766E"/>
                </a:solidFill>
                <a:latin typeface="Yu Gothic"/>
              </a:rPr>
              <a:t>曖昧さをなくすにはどうすればいいか</a:t>
            </a:r>
            <a:r>
              <a:rPr sz="2400" b="0">
                <a:solidFill>
                  <a:srgbClr val="1F2933"/>
                </a:solidFill>
                <a:latin typeface="Yu Gothic"/>
              </a:rPr>
              <a:t>」を軸に、今回の工夫を参考にプロンプトを組み立てる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2400" b="1">
                <a:solidFill>
                  <a:srgbClr val="14B8A6"/>
                </a:solidFill>
                <a:latin typeface="Yu Gothic"/>
              </a:rPr>
              <a:t>•  </a:t>
            </a:r>
            <a:r>
              <a:rPr sz="2400" b="1">
                <a:solidFill>
                  <a:srgbClr val="0F766E"/>
                </a:solidFill>
                <a:latin typeface="Yu Gothic"/>
              </a:rPr>
              <a:t>明確な指示 → 確認 → 仕上げ</a:t>
            </a:r>
            <a:r>
              <a:rPr sz="2400" b="0">
                <a:solidFill>
                  <a:srgbClr val="1F2933"/>
                </a:solidFill>
                <a:latin typeface="Yu Gothic"/>
              </a:rPr>
              <a:t> の流れを、他の作業にも応用する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606D"/>
                </a:solidFill>
                <a:latin typeface="Yu Gothic"/>
              </a:rPr>
              <a:t>スライド作りで見つけた型は、資料作成に限らずAI活用全般に効く。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0152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Yu Gothic"/>
              </a:rPr>
              <a:t>まとめ：AIには「曖昧に判断させない」</a:t>
            </a:r>
          </a:p>
          <a:p>
            <a:pPr algn="ctr">
              <a:lnSpc>
                <a:spcPct val="125000"/>
              </a:lnSpc>
              <a:spcBef>
                <a:spcPts val="1600"/>
              </a:spcBef>
            </a:pPr>
            <a:r>
              <a:rPr sz="2600" b="1">
                <a:solidFill>
                  <a:srgbClr val="5EEAD4"/>
                </a:solidFill>
                <a:latin typeface="Yu Gothic"/>
              </a:rPr>
              <a:t>数値で示す × 質問させる × HTMLで確認する</a:t>
            </a:r>
          </a:p>
          <a:p>
            <a:pPr algn="ctr">
              <a:lnSpc>
                <a:spcPct val="125000"/>
              </a:lnSpc>
              <a:spcBef>
                <a:spcPts val="1600"/>
              </a:spcBef>
            </a:pPr>
            <a:r>
              <a:rPr sz="2200" b="0">
                <a:solidFill>
                  <a:srgbClr val="FFFFFF"/>
                </a:solidFill>
                <a:latin typeface="Yu Gothic"/>
              </a:rPr>
              <a:t>── この3点で、思い通りのスライドを"再現できる"ようになった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