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1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6305F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6305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ハッカソン成果発表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就活Tool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自己分析からAI面接まで、就活をまるごとサポートするWebアプリ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 ×  Claude API（構造化出力によるAI面接官の実装）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就活生が抱える3つの悩み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自己分析・ES作成・面接練習——それぞれに時間とハードルがある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05256" y="192024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F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71116" y="2377440"/>
            <a:ext cx="914400" cy="914400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856" y="25831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35204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自己分析が主観的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79576" y="41148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自分の強み・適性を客観的な指標で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把握する手段が少ない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71416" y="192024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F2A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37276" y="2377440"/>
            <a:ext cx="914400" cy="914400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016" y="25831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0016" y="35204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面接練習の相手がいない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45736" y="41148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本番形式で練習できる相手が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おらず、ぶっつけ本番になりがち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37576" y="192024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F2A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03436" y="2377440"/>
            <a:ext cx="914400" cy="914400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9176" y="25831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66176" y="35204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ES添削に時間がかかる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11896" y="41148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第三者からのフィードバックを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すぐに得られる環境が少ない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就活Tool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就活Toolでできること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自己分析・ES・面接・企業探しを、ひとつのサイトで完結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94944" y="19659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23544" y="2240280"/>
            <a:ext cx="594360" cy="594360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3591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55064" y="2221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自己分析診断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23544" y="2971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20問の質問から性格タイプ・強みを分析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9976" y="19659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4608576" y="2240280"/>
            <a:ext cx="594360" cy="594360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35915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0096" y="2221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エントリーシート作成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08576" y="2971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自己PR・志望動機・ガクチカを作成、保存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65008" y="19659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293608" y="2240280"/>
            <a:ext cx="594360" cy="594360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35915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25128" y="2221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AI面接練習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93608" y="2971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APIが面接官として会話形式で進行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94944" y="42062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923544" y="4480560"/>
            <a:ext cx="594360" cy="594360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459943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55064" y="4462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企業検索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3544" y="5212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業界・キーワードで企業をリサーチ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79976" y="42062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E2149"/>
          </a:solidFill>
          <a:ln/>
        </p:spPr>
      </p:sp>
      <p:sp>
        <p:nvSpPr>
          <p:cNvPr id="25" name="Shape 19"/>
          <p:cNvSpPr/>
          <p:nvPr/>
        </p:nvSpPr>
        <p:spPr>
          <a:xfrm>
            <a:off x="4608576" y="4480560"/>
            <a:ext cx="594360" cy="59436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599432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0096" y="4462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企業マッチ度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08576" y="5212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診断結果と企業の特徴を照らして提案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就活Tool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1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目玉機能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AI面接練習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APIが面接官として、実際の面接さながらに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会話をリードします。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310896" cy="310896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487" y="2843327"/>
            <a:ext cx="202082" cy="2020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73405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挨拶→自己PR→ガクチカ→逆質問…と自然な流れで進行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55848"/>
            <a:ext cx="310896" cy="310896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87" y="3410255"/>
            <a:ext cx="202082" cy="2020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330098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回答ごとに「相づち→良い点→深掘り質問」で反応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922776"/>
            <a:ext cx="310896" cy="310896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87" y="3977183"/>
            <a:ext cx="202082" cy="2020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8679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質問ごとの模範解答をワンクリックで確認できる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4489704"/>
            <a:ext cx="310896" cy="310896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487" y="4544111"/>
            <a:ext cx="202082" cy="20208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4434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終了後、5項目のレーダーチャートで自動評価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949440" y="1051560"/>
            <a:ext cx="4617720" cy="5074920"/>
          </a:xfrm>
          <a:prstGeom prst="roundRect">
            <a:avLst>
              <a:gd name="adj" fmla="val 2772"/>
            </a:avLst>
          </a:prstGeom>
          <a:solidFill>
            <a:srgbClr val="16305F"/>
          </a:solidFill>
          <a:ln/>
        </p:spPr>
      </p:sp>
      <p:sp>
        <p:nvSpPr>
          <p:cNvPr id="19" name="Shape 13"/>
          <p:cNvSpPr/>
          <p:nvPr/>
        </p:nvSpPr>
        <p:spPr>
          <a:xfrm>
            <a:off x="7223760" y="1371600"/>
            <a:ext cx="502920" cy="50292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1472184"/>
            <a:ext cx="301752" cy="30175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86384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AI面接官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7223760" y="2103120"/>
            <a:ext cx="3291840" cy="914400"/>
          </a:xfrm>
          <a:prstGeom prst="roundRect">
            <a:avLst>
              <a:gd name="adj" fmla="val 15000"/>
            </a:avLst>
          </a:prstGeom>
          <a:solidFill>
            <a:srgbClr val="223B70"/>
          </a:solidFill>
          <a:ln/>
        </p:spPr>
      </p:sp>
      <p:sp>
        <p:nvSpPr>
          <p:cNvPr id="23" name="Text 16"/>
          <p:cNvSpPr/>
          <p:nvPr/>
        </p:nvSpPr>
        <p:spPr>
          <a:xfrm>
            <a:off x="7406640" y="21945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本日はお忙しい中お越しいただき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ありがとうございます。それでは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自己紹介をお願いします。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8001000" y="3246120"/>
            <a:ext cx="3291840" cy="914400"/>
          </a:xfrm>
          <a:prstGeom prst="roundRect">
            <a:avLst>
              <a:gd name="adj" fmla="val 15000"/>
            </a:avLst>
          </a:prstGeom>
          <a:solidFill>
            <a:srgbClr val="FF7A1A"/>
          </a:solidFill>
          <a:ln/>
        </p:spPr>
      </p:sp>
      <p:sp>
        <p:nvSpPr>
          <p:cNvPr id="25" name="Text 18"/>
          <p:cNvSpPr/>
          <p:nvPr/>
        </p:nvSpPr>
        <p:spPr>
          <a:xfrm>
            <a:off x="8183880" y="33375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〇〇大学の田中太郎と申します。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ゼミでは地域企業の販促支援に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取り組んでまいりました。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7223760" y="4389120"/>
            <a:ext cx="3566160" cy="1051560"/>
          </a:xfrm>
          <a:prstGeom prst="roundRect">
            <a:avLst>
              <a:gd name="adj" fmla="val 13043"/>
            </a:avLst>
          </a:prstGeom>
          <a:solidFill>
            <a:srgbClr val="223B70"/>
          </a:solidFill>
          <a:ln/>
        </p:spPr>
      </p:sp>
      <p:sp>
        <p:nvSpPr>
          <p:cNvPr id="27" name="Text 20"/>
          <p:cNvSpPr/>
          <p:nvPr/>
        </p:nvSpPr>
        <p:spPr>
          <a:xfrm>
            <a:off x="7406640" y="4480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ありがとうございます。地域企業の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販促支援、興味深いですね。それでは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自己PRをお聞かせください。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7223760" y="56235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※実際のアプリ内チャット画面のイメージ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就活Tool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技術スタック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Next.js（App Router）+ Claude API のシンプルな構成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05256" y="2377440"/>
            <a:ext cx="2880360" cy="155448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5396" y="2578608"/>
            <a:ext cx="640080" cy="640080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3412" y="270662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2416" y="3291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ブラウザ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42416" y="35844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/ Client Component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音声入出力・チャットUI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785616" y="2990088"/>
            <a:ext cx="777240" cy="329184"/>
          </a:xfrm>
          <a:prstGeom prst="rightArrow">
            <a:avLst/>
          </a:prstGeom>
          <a:solidFill>
            <a:srgbClr val="FF7A1A"/>
          </a:solidFill>
          <a:ln/>
        </p:spPr>
      </p:sp>
      <p:sp>
        <p:nvSpPr>
          <p:cNvPr id="10" name="Shape 7"/>
          <p:cNvSpPr/>
          <p:nvPr/>
        </p:nvSpPr>
        <p:spPr>
          <a:xfrm>
            <a:off x="4654296" y="2377440"/>
            <a:ext cx="2880360" cy="1554480"/>
          </a:xfrm>
          <a:prstGeom prst="roundRect">
            <a:avLst>
              <a:gd name="adj" fmla="val 7059"/>
            </a:avLst>
          </a:prstGeom>
          <a:solidFill>
            <a:srgbClr val="0E2149"/>
          </a:solidFill>
          <a:ln/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74436" y="2578608"/>
            <a:ext cx="640080" cy="64008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452" y="270662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91456" y="3291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API Route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791456" y="35844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app/api/interview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構造化出力の組み立て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534656" y="2990088"/>
            <a:ext cx="777240" cy="329184"/>
          </a:xfrm>
          <a:prstGeom prst="rightArrow">
            <a:avLst/>
          </a:prstGeom>
          <a:solidFill>
            <a:srgbClr val="FF7A1A"/>
          </a:solidFill>
          <a:ln/>
        </p:spPr>
      </p:sp>
      <p:sp>
        <p:nvSpPr>
          <p:cNvPr id="16" name="Shape 12"/>
          <p:cNvSpPr/>
          <p:nvPr/>
        </p:nvSpPr>
        <p:spPr>
          <a:xfrm>
            <a:off x="8403336" y="2377440"/>
            <a:ext cx="2880360" cy="155448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F2A44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523476" y="2578608"/>
            <a:ext cx="640080" cy="640080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492" y="2706624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40496" y="3291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540496" y="35844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claude-sonnet-5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output_config (json_schema)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905256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主な技術要素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905256" y="5093208"/>
            <a:ext cx="256032" cy="256032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2" y="5138014"/>
            <a:ext cx="166421" cy="16642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9304" y="5074920"/>
            <a:ext cx="4732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/ App Router / Route Handlers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094476" y="5093208"/>
            <a:ext cx="256032" cy="256032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9282" y="5138014"/>
            <a:ext cx="166421" cy="16642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78524" y="5074920"/>
            <a:ext cx="4732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@anthropic-ai/sdk（Messages API・構造化出力）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905256" y="5550408"/>
            <a:ext cx="256032" cy="256032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062" y="5595214"/>
            <a:ext cx="166421" cy="166421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289304" y="5532120"/>
            <a:ext cx="4732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API（音声入出力）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6094476" y="5550408"/>
            <a:ext cx="256032" cy="256032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9282" y="5595214"/>
            <a:ext cx="166421" cy="166421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78524" y="5532120"/>
            <a:ext cx="4732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Recharts（評価のレーダーチャート表示）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就活Tool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開発の工夫①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AIの発言を「壊れないJSON」にする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面接官の発言・質問カテゴリ・終了判定をAIに毎回JSONで返してもらう必要があった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5236" y="2240280"/>
            <a:ext cx="5120640" cy="3794760"/>
          </a:xfrm>
          <a:prstGeom prst="roundRect">
            <a:avLst>
              <a:gd name="adj" fmla="val 2892"/>
            </a:avLst>
          </a:prstGeom>
          <a:solidFill>
            <a:srgbClr val="FBEFE9"/>
          </a:solidFill>
          <a:ln/>
        </p:spPr>
      </p:sp>
      <p:sp>
        <p:nvSpPr>
          <p:cNvPr id="7" name="Shape 5"/>
          <p:cNvSpPr/>
          <p:nvPr/>
        </p:nvSpPr>
        <p:spPr>
          <a:xfrm>
            <a:off x="1065276" y="256032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66090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05356" y="2560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Before：プロンプトだけで指示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65276" y="329184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2B2F3A"/>
          </a:solidFill>
          <a:ln/>
        </p:spPr>
      </p:sp>
      <p:sp>
        <p:nvSpPr>
          <p:cNvPr id="11" name="Text 8"/>
          <p:cNvSpPr/>
          <p:nvPr/>
        </p:nvSpPr>
        <p:spPr>
          <a:xfrm>
            <a:off x="1248156" y="34290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{"reply":"…、ます", Dtrue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65276" y="45262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・長い返答でJSONが途中で切れる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・カテゴリ判定の形式がブレる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・パース失敗時にアプリが停止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23076" y="2240280"/>
            <a:ext cx="5120640" cy="3794760"/>
          </a:xfrm>
          <a:prstGeom prst="roundRect">
            <a:avLst>
              <a:gd name="adj" fmla="val 2892"/>
            </a:avLst>
          </a:prstGeom>
          <a:solidFill>
            <a:srgbClr val="0E2149"/>
          </a:solidFill>
          <a:ln/>
        </p:spPr>
      </p:sp>
      <p:sp>
        <p:nvSpPr>
          <p:cNvPr id="14" name="Shape 11"/>
          <p:cNvSpPr/>
          <p:nvPr/>
        </p:nvSpPr>
        <p:spPr>
          <a:xfrm>
            <a:off x="6643116" y="2560320"/>
            <a:ext cx="502920" cy="50292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266090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83196" y="2560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After：構造化出力で形式を保証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643116" y="329184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16305F"/>
          </a:solidFill>
          <a:ln/>
        </p:spPr>
      </p:sp>
      <p:sp>
        <p:nvSpPr>
          <p:cNvPr id="18" name="Text 14"/>
          <p:cNvSpPr/>
          <p:nvPr/>
        </p:nvSpPr>
        <p:spPr>
          <a:xfrm>
            <a:off x="6825996" y="341071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E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output_config: 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E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format: { type: "json_schema", schema }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E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643116" y="45262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・スキーマでJSON形式をAPI側が保証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・max_tokensに余裕を持たせ長文にも対応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・stop_reasonを見て途中切断も検知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就活Tool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開発の工夫②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ログを取って、推測せず原因を特定する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「画面がおかしい」で終わらせず、APIの生ログを見て一次情報から判断した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36676" y="228600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1110996" y="2560320"/>
            <a:ext cx="548640" cy="548640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724" y="267004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0996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発生した問題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10996" y="3749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・SSRとクライアントで表示が食い違う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（Hydration mismatch）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・面接官の返答JSONが時々壊れる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46804" y="3849624"/>
            <a:ext cx="283464" cy="256032"/>
          </a:xfrm>
          <a:prstGeom prst="rightArrow">
            <a:avLst/>
          </a:prstGeom>
          <a:solidFill>
            <a:srgbClr val="FF7A1A"/>
          </a:solidFill>
          <a:ln/>
        </p:spPr>
      </p:sp>
      <p:sp>
        <p:nvSpPr>
          <p:cNvPr id="12" name="Shape 9"/>
          <p:cNvSpPr/>
          <p:nvPr/>
        </p:nvSpPr>
        <p:spPr>
          <a:xfrm>
            <a:off x="4448556" y="228600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</p:spPr>
      </p:sp>
      <p:sp>
        <p:nvSpPr>
          <p:cNvPr id="13" name="Shape 10"/>
          <p:cNvSpPr/>
          <p:nvPr/>
        </p:nvSpPr>
        <p:spPr>
          <a:xfrm>
            <a:off x="4722876" y="2560320"/>
            <a:ext cx="548640" cy="548640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67004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22876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ログで一次情報を確認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722876" y="3749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・response.content や stop_reason を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そのままログ出力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・typeof window の判定タイミングを特定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758684" y="3849624"/>
            <a:ext cx="283464" cy="256032"/>
          </a:xfrm>
          <a:prstGeom prst="rightArrow">
            <a:avLst/>
          </a:prstGeom>
          <a:solidFill>
            <a:srgbClr val="FF7A1A"/>
          </a:solidFill>
          <a:ln/>
        </p:spPr>
      </p:sp>
      <p:sp>
        <p:nvSpPr>
          <p:cNvPr id="18" name="Shape 14"/>
          <p:cNvSpPr/>
          <p:nvPr/>
        </p:nvSpPr>
        <p:spPr>
          <a:xfrm>
            <a:off x="8060436" y="228600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</p:spPr>
      </p:sp>
      <p:sp>
        <p:nvSpPr>
          <p:cNvPr id="19" name="Shape 15"/>
          <p:cNvSpPr/>
          <p:nvPr/>
        </p:nvSpPr>
        <p:spPr>
          <a:xfrm>
            <a:off x="8334756" y="2560320"/>
            <a:ext cx="548640" cy="548640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484" y="267004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34756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根本原因を修正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334756" y="3749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・判定処理をuseEffect内に移動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・構造化出力＋max_tokens見直しで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JSON崩れを防止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就活Tool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1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029200" cy="5029200"/>
          </a:xfrm>
          <a:prstGeom prst="ellipse">
            <a:avLst/>
          </a:prstGeom>
          <a:solidFill>
            <a:srgbClr val="1630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今後の展望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ハッカソンでの実装をベースに、さらに就活生に寄り添う機能へ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" y="214884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16305F"/>
          </a:solidFill>
          <a:ln/>
        </p:spPr>
      </p:sp>
      <p:sp>
        <p:nvSpPr>
          <p:cNvPr id="6" name="Shape 4"/>
          <p:cNvSpPr/>
          <p:nvPr/>
        </p:nvSpPr>
        <p:spPr>
          <a:xfrm>
            <a:off x="1092708" y="2560320"/>
            <a:ext cx="685800" cy="68580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868" y="26974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33956" y="240487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音声だけで完結する面接練習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933956" y="289864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テキスト入力なしで、話すだけで練習できるUIへ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77356" y="214884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16305F"/>
          </a:solidFill>
          <a:ln/>
        </p:spPr>
      </p:sp>
      <p:sp>
        <p:nvSpPr>
          <p:cNvPr id="11" name="Shape 8"/>
          <p:cNvSpPr/>
          <p:nvPr/>
        </p:nvSpPr>
        <p:spPr>
          <a:xfrm>
            <a:off x="6533388" y="2560320"/>
            <a:ext cx="685800" cy="68580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548" y="26974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74636" y="240487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企業別の深掘り質問を強化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74636" y="289864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企業データを活用し、より的確な質問を自動生成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36676" y="402336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16305F"/>
          </a:solidFill>
          <a:ln/>
        </p:spPr>
      </p:sp>
      <p:sp>
        <p:nvSpPr>
          <p:cNvPr id="16" name="Shape 12"/>
          <p:cNvSpPr/>
          <p:nvPr/>
        </p:nvSpPr>
        <p:spPr>
          <a:xfrm>
            <a:off x="1092708" y="4434840"/>
            <a:ext cx="685800" cy="68580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868" y="45720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33956" y="427939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レスポンス速度のさらなる改善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933956" y="477316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モデル・プロンプトの最適化で回答速度を短縮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77356" y="402336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16305F"/>
          </a:solidFill>
          <a:ln/>
        </p:spPr>
      </p:sp>
      <p:sp>
        <p:nvSpPr>
          <p:cNvPr id="21" name="Shape 16"/>
          <p:cNvSpPr/>
          <p:nvPr/>
        </p:nvSpPr>
        <p:spPr>
          <a:xfrm>
            <a:off x="6533388" y="4434840"/>
            <a:ext cx="685800" cy="685800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48" y="45720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74636" y="427939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自己分析とESの連携強化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374636" y="477316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診断結果をESの下書き作成にも活用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就活Tool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114800"/>
            <a:ext cx="4572000" cy="4572000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01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8013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自己分析・ES・AI面接・企業探しを1つのアプリに統合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365760" cy="365760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8775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487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APIの構造化出力で、安定したAI面接官を実現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0E214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27355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1729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問題発生時はログで一次情報を確認し、根本原因から修正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40080" y="4297680"/>
            <a:ext cx="7772400" cy="1554480"/>
          </a:xfrm>
          <a:prstGeom prst="roundRect">
            <a:avLst>
              <a:gd name="adj" fmla="val 8235"/>
            </a:avLst>
          </a:prstGeom>
          <a:solidFill>
            <a:srgbClr val="0E2149"/>
          </a:solidFill>
          <a:ln/>
        </p:spPr>
      </p:sp>
      <p:sp>
        <p:nvSpPr>
          <p:cNvPr id="14" name="Text 9"/>
          <p:cNvSpPr/>
          <p:nvPr/>
        </p:nvSpPr>
        <p:spPr>
          <a:xfrm>
            <a:off x="1005840" y="4297680"/>
            <a:ext cx="7040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ご清聴ありがとうございました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就活Tool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2026-07-17T06:17:16Z</dcterms:created>
  <dcterms:modified xsi:type="dcterms:W3CDTF">2026-07-17T06:17:16Z</dcterms:modified>
</cp:coreProperties>
</file>