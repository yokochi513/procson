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0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22303F"/>
                </a:solidFill>
                <a:latin typeface="Arial"/>
              </a:rPr>
              <a:t>開発時間の比較（1日=8時間換算）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開発時間</c:v>
                </c:pt>
              </c:strCache>
            </c:strRef>
          </c:tx>
          <c:spPr>
            <a:solidFill>
              <a:srgbClr val="8A94A6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30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AIなし（想定）</c:v>
                  </c:pt>
                  <c:pt idx="1">
                    <c:v>AIあり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</c:v>
                </c:pt>
                <c:pt idx="1">
                  <c:v>8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230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30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</c:scaling>
        <c:delete val="0"/>
        <c:axPos val="b"/>
        <c:majorGridlines>
          <c:spPr>
            <a:ln w="12700" cap="flat">
              <a:solidFill>
                <a:srgbClr val="E5E9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時間（h）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C2E56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2E56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4864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AI活用授業 最終発表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AI活用で切り拓く、就活支援サイト開発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成果物ではなく、「AIをどう使い、どう試行錯誤したか」を伝える発表です。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487" y="3254807"/>
            <a:ext cx="202082" cy="20208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AI面接（API利用）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87" y="3757727"/>
            <a:ext cx="202082" cy="2020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" y="3657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AIによるES添削・模範回答生成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20624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87" y="4260647"/>
            <a:ext cx="202082" cy="2020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4160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レーダーチャートで自己分析・企業マッチング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40080" y="4846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完成度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800600"/>
            <a:ext cx="292608" cy="292608"/>
          </a:xfrm>
          <a:prstGeom prst="rect">
            <a:avLst/>
          </a:prstGeom>
        </p:spPr>
      </p:pic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6272" y="4800600"/>
            <a:ext cx="292608" cy="292608"/>
          </a:xfrm>
          <a:prstGeom prst="rect">
            <a:avLst/>
          </a:prstGeom>
        </p:spPr>
      </p:pic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3744" y="4800600"/>
            <a:ext cx="292608" cy="292608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1216" y="4800600"/>
            <a:ext cx="292608" cy="292608"/>
          </a:xfrm>
          <a:prstGeom prst="rect">
            <a:avLst/>
          </a:prstGeom>
        </p:spPr>
      </p:pic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480060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749040" y="4846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（5段階中3）</a:t>
            </a:r>
            <a:endParaRPr lang="en-US" sz="1100" dirty="0"/>
          </a:p>
        </p:txBody>
      </p:sp>
      <p:sp>
        <p:nvSpPr>
          <p:cNvPr id="24" name="Text 1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25" name="Text 1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なぜAI活用に踏み切ったのか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一人でこの規模を実装するのは重い。だからAIと協働する道を選んだ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02436" y="2286000"/>
            <a:ext cx="4206240" cy="301752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2848356" y="2651760"/>
            <a:ext cx="914400" cy="914400"/>
          </a:xfrm>
          <a:prstGeom prst="ellipse">
            <a:avLst/>
          </a:prstGeom>
          <a:solidFill>
            <a:srgbClr val="8A94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096" y="28575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5316" y="37947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独力での開発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85316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想定 約2日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431036" y="4754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API通信・Next.js・状態管理など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初学者には壁の多い技術要素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500116" y="3794760"/>
            <a:ext cx="1188720" cy="18288"/>
          </a:xfrm>
          <a:prstGeom prst="line">
            <a:avLst/>
          </a:prstGeom>
          <a:noFill/>
          <a:ln w="381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637276" y="324612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37276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80276" y="2286000"/>
            <a:ext cx="4206240" cy="3017520"/>
          </a:xfrm>
          <a:prstGeom prst="roundRect">
            <a:avLst>
              <a:gd name="adj" fmla="val 3636"/>
            </a:avLst>
          </a:prstGeom>
          <a:solidFill>
            <a:srgbClr val="14213D"/>
          </a:solidFill>
          <a:ln/>
        </p:spPr>
      </p:sp>
      <p:sp>
        <p:nvSpPr>
          <p:cNvPr id="16" name="Shape 13"/>
          <p:cNvSpPr/>
          <p:nvPr/>
        </p:nvSpPr>
        <p:spPr>
          <a:xfrm>
            <a:off x="8426196" y="2651760"/>
            <a:ext cx="914400" cy="9144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285750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63156" y="37947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AIとの協働開発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963156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開発サイクルを高速に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7008876" y="4754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設計・実装・検証・修正を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AIと繰り返し回す方針に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開発で直面した5つの壁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特に「デバッグ」は原因の再現条件が分からず、何度も同じ場所で詰まった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2237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132130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6187" y="2918079"/>
            <a:ext cx="427482" cy="4274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1381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API通信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1693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351586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747" y="291807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0837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Next.jsの設計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11149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</p:sp>
      <p:sp>
        <p:nvSpPr>
          <p:cNvPr id="15" name="Shape 11"/>
          <p:cNvSpPr/>
          <p:nvPr/>
        </p:nvSpPr>
        <p:spPr>
          <a:xfrm>
            <a:off x="571042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307" y="291807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0293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状態管理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0605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</p:sp>
      <p:sp>
        <p:nvSpPr>
          <p:cNvPr id="19" name="Shape 14"/>
          <p:cNvSpPr/>
          <p:nvPr/>
        </p:nvSpPr>
        <p:spPr>
          <a:xfrm>
            <a:off x="790498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867" y="2918079"/>
            <a:ext cx="427482" cy="4274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39749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CSV読み込み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500616" y="2308860"/>
            <a:ext cx="1965960" cy="2606040"/>
          </a:xfrm>
          <a:prstGeom prst="roundRect">
            <a:avLst>
              <a:gd name="adj" fmla="val 4651"/>
            </a:avLst>
          </a:prstGeom>
          <a:solidFill>
            <a:srgbClr val="D64545"/>
          </a:solidFill>
          <a:ln/>
        </p:spPr>
      </p:sp>
      <p:sp>
        <p:nvSpPr>
          <p:cNvPr id="23" name="Shape 17"/>
          <p:cNvSpPr/>
          <p:nvPr/>
        </p:nvSpPr>
        <p:spPr>
          <a:xfrm>
            <a:off x="10099548" y="258318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4427" y="2758059"/>
            <a:ext cx="427482" cy="42748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592056" y="42291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デバッグ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23744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AI活用プロセス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ChatGPTとClaude、役割を分けた開発サイクル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設計から再テストまでを繰り返し、コードの80〜90%をAIが生成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75424" y="2899725"/>
            <a:ext cx="235101" cy="113219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610268" y="3845851"/>
            <a:ext cx="58065" cy="254400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5290728" y="5166642"/>
            <a:ext cx="162695" cy="204013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4062053" y="5867515"/>
            <a:ext cx="260942" cy="18288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 flipV="1">
            <a:off x="2907526" y="5216685"/>
            <a:ext cx="162695" cy="204013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2638464" y="3908254"/>
            <a:ext cx="58065" cy="254400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3352846" y="2927497"/>
            <a:ext cx="235101" cy="113219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34740" y="2125980"/>
            <a:ext cx="1051560" cy="1051560"/>
          </a:xfrm>
          <a:prstGeom prst="ellipse">
            <a:avLst/>
          </a:prstGeom>
          <a:solidFill>
            <a:srgbClr val="6C6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0420" y="212598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①ChatGPTで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57317" y="2762900"/>
            <a:ext cx="1051560" cy="1051560"/>
          </a:xfrm>
          <a:prstGeom prst="ellipse">
            <a:avLst/>
          </a:prstGeom>
          <a:solidFill>
            <a:srgbClr val="2EC4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2997" y="276290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②Claudeで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83967" y="4194045"/>
            <a:ext cx="1051560" cy="1051560"/>
          </a:xfrm>
          <a:prstGeom prst="ellipse">
            <a:avLst/>
          </a:prstGeom>
          <a:solidFill>
            <a:srgbClr val="8A94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09647" y="419404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③動作確認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68715" y="5341735"/>
            <a:ext cx="1051560" cy="1051560"/>
          </a:xfrm>
          <a:prstGeom prst="ellipse">
            <a:avLst/>
          </a:prstGeom>
          <a:solidFill>
            <a:srgbClr val="D64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94395" y="534173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④エラー発生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900765" y="5341735"/>
            <a:ext cx="1051560" cy="1051560"/>
          </a:xfrm>
          <a:prstGeom prst="ellipse">
            <a:avLst/>
          </a:prstGeom>
          <a:solidFill>
            <a:srgbClr val="6C63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26445" y="534173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⑤ChatGPTで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原因分析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985513" y="4194045"/>
            <a:ext cx="1051560" cy="1051560"/>
          </a:xfrm>
          <a:prstGeom prst="ellipse">
            <a:avLst/>
          </a:prstGeom>
          <a:solidFill>
            <a:srgbClr val="2EC4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11193" y="419404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⑥Claudeで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312163" y="2762900"/>
            <a:ext cx="1051560" cy="1051560"/>
          </a:xfrm>
          <a:prstGeom prst="ellipse">
            <a:avLst/>
          </a:prstGeom>
          <a:solidFill>
            <a:srgbClr val="8A94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37843" y="276290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⑦再テスト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15468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80〜90%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3154680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コードはAIが生成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366760" y="2331720"/>
            <a:ext cx="3200400" cy="1417320"/>
          </a:xfrm>
          <a:prstGeom prst="roundRect">
            <a:avLst>
              <a:gd name="adj" fmla="val 6452"/>
            </a:avLst>
          </a:prstGeom>
          <a:solidFill>
            <a:srgbClr val="1C2E56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2542032"/>
            <a:ext cx="274320" cy="274320"/>
          </a:xfrm>
          <a:prstGeom prst="ellipse">
            <a:avLst/>
          </a:prstGeom>
          <a:solidFill>
            <a:srgbClr val="6C63FF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24871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595360" y="28803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仕様決定・アイデア出し・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設計フロー・原因予測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66760" y="3931920"/>
            <a:ext cx="3200400" cy="1417320"/>
          </a:xfrm>
          <a:prstGeom prst="roundRect">
            <a:avLst>
              <a:gd name="adj" fmla="val 6452"/>
            </a:avLst>
          </a:prstGeom>
          <a:solidFill>
            <a:srgbClr val="1C2E56"/>
          </a:solidFill>
          <a:ln/>
        </p:spPr>
      </p:sp>
      <p:sp>
        <p:nvSpPr>
          <p:cNvPr id="34" name="Shape 32"/>
          <p:cNvSpPr/>
          <p:nvPr/>
        </p:nvSpPr>
        <p:spPr>
          <a:xfrm>
            <a:off x="8595360" y="4142232"/>
            <a:ext cx="274320" cy="2743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40873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0" y="44805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コード生成・デバッグ・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修正・次機能の実装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AIには「曖昧に質問しない」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状況・ログ・意図まで言語化して渡すことで、解決率が大きく上がった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8076" y="224028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BEAEA"/>
          </a:solidFill>
          <a:ln/>
        </p:spPr>
      </p:sp>
      <p:sp>
        <p:nvSpPr>
          <p:cNvPr id="7" name="Shape 5"/>
          <p:cNvSpPr/>
          <p:nvPr/>
        </p:nvSpPr>
        <p:spPr>
          <a:xfrm>
            <a:off x="882396" y="2514600"/>
            <a:ext cx="502920" cy="50292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615184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2476" y="2514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悪い例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928116" y="3200400"/>
            <a:ext cx="4617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0996" y="33375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「エラーが出ました。」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23076" y="224028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/>
        </p:spPr>
      </p:sp>
      <p:sp>
        <p:nvSpPr>
          <p:cNvPr id="13" name="Shape 10"/>
          <p:cNvSpPr/>
          <p:nvPr/>
        </p:nvSpPr>
        <p:spPr>
          <a:xfrm>
            <a:off x="6597396" y="251460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261518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37476" y="2514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良い例：まとめて渡す6項目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643116" y="3154680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</p:sp>
      <p:sp>
        <p:nvSpPr>
          <p:cNvPr id="17" name="Text 13"/>
          <p:cNvSpPr/>
          <p:nvPr/>
        </p:nvSpPr>
        <p:spPr>
          <a:xfrm>
            <a:off x="6643116" y="3154680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いつ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061704" y="3154680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</p:sp>
      <p:sp>
        <p:nvSpPr>
          <p:cNvPr id="19" name="Text 15"/>
          <p:cNvSpPr/>
          <p:nvPr/>
        </p:nvSpPr>
        <p:spPr>
          <a:xfrm>
            <a:off x="9061704" y="3154680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どの画面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43116" y="3593592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</p:sp>
      <p:sp>
        <p:nvSpPr>
          <p:cNvPr id="21" name="Text 17"/>
          <p:cNvSpPr/>
          <p:nvPr/>
        </p:nvSpPr>
        <p:spPr>
          <a:xfrm>
            <a:off x="6643116" y="3593592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何回目の操作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061704" y="3593592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</p:sp>
      <p:sp>
        <p:nvSpPr>
          <p:cNvPr id="23" name="Text 19"/>
          <p:cNvSpPr/>
          <p:nvPr/>
        </p:nvSpPr>
        <p:spPr>
          <a:xfrm>
            <a:off x="9061704" y="3593592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643116" y="4032504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</p:sp>
      <p:sp>
        <p:nvSpPr>
          <p:cNvPr id="25" name="Text 21"/>
          <p:cNvSpPr/>
          <p:nvPr/>
        </p:nvSpPr>
        <p:spPr>
          <a:xfrm>
            <a:off x="6643116" y="4032504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エラー文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9061704" y="4032504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</p:sp>
      <p:sp>
        <p:nvSpPr>
          <p:cNvPr id="27" name="Text 23"/>
          <p:cNvSpPr/>
          <p:nvPr/>
        </p:nvSpPr>
        <p:spPr>
          <a:xfrm>
            <a:off x="9061704" y="4032504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関連コード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8076" y="4846320"/>
            <a:ext cx="10972800" cy="960120"/>
          </a:xfrm>
          <a:prstGeom prst="roundRect">
            <a:avLst>
              <a:gd name="adj" fmla="val 9524"/>
            </a:avLst>
          </a:prstGeom>
          <a:solidFill>
            <a:srgbClr val="F4F6FB"/>
          </a:solidFill>
          <a:ln/>
        </p:spPr>
      </p:sp>
      <p:sp>
        <p:nvSpPr>
          <p:cNvPr id="29" name="Text 25"/>
          <p:cNvSpPr/>
          <p:nvPr/>
        </p:nvSpPr>
        <p:spPr>
          <a:xfrm>
            <a:off x="882396" y="48463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実例：「AI面接で6問目のみレスポンスが返らない。エラーコードなし。関連ファイルは interview.ts / api.ts / page.tsx。原因になりそうな箇所だけ抽出してほしい」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試行錯誤の成果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想定2日（16時間相当）の開発を、約8時間まで短縮できた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65836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2860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2423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完成度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743200"/>
            <a:ext cx="310896" cy="310896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743200"/>
            <a:ext cx="310896" cy="310896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743200"/>
            <a:ext cx="310896" cy="310896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2743200"/>
            <a:ext cx="310896" cy="310896"/>
          </a:xfrm>
          <a:prstGeom prst="rect">
            <a:avLst/>
          </a:prstGeom>
        </p:spPr>
      </p:pic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160" y="2743200"/>
            <a:ext cx="310896" cy="310896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818120" y="3200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5段階中 3（改善の余地あり）</a:t>
            </a:r>
            <a:endParaRPr lang="en-US" sz="1100" dirty="0"/>
          </a:p>
        </p:txBody>
      </p:sp>
      <p:sp>
        <p:nvSpPr>
          <p:cNvPr id="15" name="Shape 7"/>
          <p:cNvSpPr/>
          <p:nvPr/>
        </p:nvSpPr>
        <p:spPr>
          <a:xfrm>
            <a:off x="7589520" y="38862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4213D"/>
          </a:solidFill>
          <a:ln/>
        </p:spPr>
      </p:sp>
      <p:sp>
        <p:nvSpPr>
          <p:cNvPr id="16" name="Text 8"/>
          <p:cNvSpPr/>
          <p:nvPr/>
        </p:nvSpPr>
        <p:spPr>
          <a:xfrm>
            <a:off x="7818120" y="4023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80〜90%</a:t>
            </a:r>
            <a:endParaRPr lang="en-US" sz="2600" dirty="0"/>
          </a:p>
        </p:txBody>
      </p:sp>
      <p:sp>
        <p:nvSpPr>
          <p:cNvPr id="17" name="Text 9"/>
          <p:cNvSpPr/>
          <p:nvPr/>
        </p:nvSpPr>
        <p:spPr>
          <a:xfrm>
            <a:off x="7818120" y="4663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コードはAIが生成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19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297680"/>
            <a:ext cx="4572000" cy="4572000"/>
          </a:xfrm>
          <a:prstGeom prst="ellipse">
            <a:avLst/>
          </a:prstGeom>
          <a:solidFill>
            <a:srgbClr val="1C2E5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9773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8745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ChatGPTとClaude、役割を分けて開発サイクルを高速に回した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846070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7432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曖昧に質問しないことが、AI活用の解決率を大きく左右した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147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6118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開発時間は2日→8時間、コードの80〜90%をAIが生成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4709160"/>
            <a:ext cx="8229600" cy="1417320"/>
          </a:xfrm>
          <a:prstGeom prst="roundRect">
            <a:avLst>
              <a:gd name="adj" fmla="val 9032"/>
            </a:avLst>
          </a:prstGeom>
          <a:solidFill>
            <a:srgbClr val="2EC4B6"/>
          </a:solidFill>
          <a:ln/>
        </p:spPr>
      </p:sp>
      <p:sp>
        <p:nvSpPr>
          <p:cNvPr id="14" name="Text 9"/>
          <p:cNvSpPr/>
          <p:nvPr/>
        </p:nvSpPr>
        <p:spPr>
          <a:xfrm>
            <a:off x="1005840" y="470916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成果物の完成度より、AIとどう向き合ったか。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そのプロセスこそ、今日一番伝えたいことです。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AI活用ふりかえり発表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2026-07-17T10:00:29Z</dcterms:created>
  <dcterms:modified xsi:type="dcterms:W3CDTF">2026-07-17T10:00:29Z</dcterms:modified>
</cp:coreProperties>
</file>